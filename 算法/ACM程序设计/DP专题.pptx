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81" r:id="rId9"/>
    <p:sldId id="268" r:id="rId10"/>
    <p:sldId id="269" r:id="rId11"/>
    <p:sldId id="262" r:id="rId12"/>
    <p:sldId id="263" r:id="rId13"/>
    <p:sldId id="264" r:id="rId14"/>
    <p:sldId id="265" r:id="rId15"/>
    <p:sldId id="266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3" r:id="rId25"/>
    <p:sldId id="279" r:id="rId26"/>
    <p:sldId id="280" r:id="rId27"/>
    <p:sldId id="284" r:id="rId2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0" autoAdjust="0"/>
    <p:restoredTop sz="94660"/>
  </p:normalViewPr>
  <p:slideViewPr>
    <p:cSldViewPr>
      <p:cViewPr varScale="1">
        <p:scale>
          <a:sx n="62" d="100"/>
          <a:sy n="62" d="100"/>
        </p:scale>
        <p:origin x="-163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1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14422"/>
            <a:ext cx="77724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3" y="2759581"/>
            <a:ext cx="6100534" cy="1740989"/>
          </a:xfrm>
        </p:spPr>
        <p:txBody>
          <a:bodyPr anchor="t"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BE31-1EE4-4E65-8B37-274920C5DB67}" type="datetimeFigureOut">
              <a:rPr lang="zh-CN" altLang="en-US" smtClean="0"/>
              <a:t>2013/7/26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4BAB-2794-4B72-8741-DC18756565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BE31-1EE4-4E65-8B37-274920C5DB67}" type="datetimeFigureOut">
              <a:rPr lang="zh-CN" altLang="en-US" smtClean="0"/>
              <a:t>2013/7/26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4BAB-2794-4B72-8741-DC187565655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43369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643182"/>
            <a:ext cx="7772400" cy="1500187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BE31-1EE4-4E65-8B37-274920C5DB67}" type="datetimeFigureOut">
              <a:rPr lang="zh-CN" altLang="en-US" smtClean="0"/>
              <a:t>2013/7/26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4BAB-2794-4B72-8741-DC187565655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7480636" y="0"/>
            <a:ext cx="1663364" cy="235743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55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BE31-1EE4-4E65-8B37-274920C5DB67}" type="datetimeFigureOut">
              <a:rPr lang="zh-CN" altLang="en-US" smtClean="0"/>
              <a:t>2013/7/26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4BAB-2794-4B72-8741-DC187565655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6408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BE31-1EE4-4E65-8B37-274920C5DB67}" type="datetimeFigureOut">
              <a:rPr lang="zh-CN" altLang="en-US" smtClean="0"/>
              <a:t>2013/7/26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4BAB-2794-4B72-8741-DC187565655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BE31-1EE4-4E65-8B37-274920C5DB67}" type="datetimeFigureOut">
              <a:rPr lang="zh-CN" altLang="en-US" smtClean="0"/>
              <a:t>2013/7/26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4BAB-2794-4B72-8741-DC187565655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BE31-1EE4-4E65-8B37-274920C5DB67}" type="datetimeFigureOut">
              <a:rPr lang="zh-CN" altLang="en-US" smtClean="0"/>
              <a:t>2013/7/26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4BAB-2794-4B72-8741-DC187565655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73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1175" y="5357826"/>
            <a:ext cx="8226225" cy="768028"/>
          </a:xfrm>
        </p:spPr>
        <p:txBody>
          <a:bodyPr anchor="ctr"/>
          <a:lstStyle>
            <a:lvl1pPr algn="ctr">
              <a:defRPr lang="zh-CN" altLang="en-US" sz="36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428604"/>
            <a:ext cx="5111750" cy="48577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6" y="1357298"/>
            <a:ext cx="3008313" cy="39290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BE31-1EE4-4E65-8B37-274920C5DB67}" type="datetimeFigureOut">
              <a:rPr lang="zh-CN" altLang="en-US" smtClean="0"/>
              <a:t>2013/7/26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4BAB-2794-4B72-8741-DC187565655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298" y="214290"/>
            <a:ext cx="7448602" cy="781052"/>
          </a:xfrm>
        </p:spPr>
        <p:txBody>
          <a:bodyPr anchor="ctr"/>
          <a:lstStyle>
            <a:lvl1pPr algn="ctr" rtl="0">
              <a:spcBef>
                <a:spcPct val="0"/>
              </a:spcBef>
              <a:buNone/>
              <a:defRPr sz="36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1015" y="1000108"/>
            <a:ext cx="7452360" cy="5214974"/>
          </a:xfrm>
          <a:prstGeom prst="snip2DiagRect">
            <a:avLst>
              <a:gd name="adj1" fmla="val 0"/>
              <a:gd name="adj2" fmla="val 1794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0" y="6243633"/>
            <a:ext cx="3180375" cy="614367"/>
          </a:xfrm>
        </p:spPr>
        <p:txBody>
          <a:bodyPr anchor="t"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92878"/>
            <a:ext cx="1676384" cy="365125"/>
          </a:xfrm>
        </p:spPr>
        <p:txBody>
          <a:bodyPr/>
          <a:lstStyle/>
          <a:p>
            <a:fld id="{AEAABE31-1EE4-4E65-8B37-274920C5DB67}" type="datetimeFigureOut">
              <a:rPr lang="zh-CN" altLang="en-US" smtClean="0"/>
              <a:t>2013/7/26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285984" y="6492876"/>
            <a:ext cx="2643206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83073" y="5347005"/>
            <a:ext cx="871200" cy="871200"/>
          </a:xfrm>
          <a:prstGeom prst="rtTriangl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fld id="{77644BAB-2794-4B72-8741-DC187565655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00176"/>
            <a:ext cx="8229600" cy="4714907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BE31-1EE4-4E65-8B37-274920C5DB67}" type="datetimeFigureOut">
              <a:rPr lang="zh-CN" altLang="en-US" smtClean="0"/>
              <a:t>2013/7/26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4BAB-2794-4B72-8741-DC187565655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74638"/>
            <a:ext cx="1400156" cy="5940444"/>
          </a:xfrm>
        </p:spPr>
        <p:txBody>
          <a:bodyPr vert="eaVert"/>
          <a:lstStyle>
            <a:lvl1pPr algn="ctr">
              <a:defRPr>
                <a:effectLst>
                  <a:outerShdw dist="50800" dir="18900000" algn="tl" rotWithShape="0">
                    <a:srgbClr val="000000">
                      <a:alpha val="7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58006" cy="594044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ABE31-1EE4-4E65-8B37-274920C5DB67}" type="datetimeFigureOut">
              <a:rPr lang="zh-CN" altLang="en-US" smtClean="0"/>
              <a:t>2013/7/26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4BAB-2794-4B72-8741-DC187565655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60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274320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AEAABE31-1EE4-4E65-8B37-274920C5DB67}" type="datetimeFigureOut">
              <a:rPr lang="zh-CN" altLang="en-US" smtClean="0"/>
              <a:t>2013/7/26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45720" tIns="45720" rIns="45720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77644BAB-2794-4B72-8741-DC18756565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lang="zh-CN" altLang="en-US" sz="4400" b="0" kern="1200" spc="50" dirty="0">
          <a:ln w="12700">
            <a:noFill/>
            <a:prstDash val="solid"/>
          </a:ln>
          <a:solidFill>
            <a:schemeClr val="accent4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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blog.csdn.net/u010638776/article/details/9257701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acm.hust.edu.cn/vjudge/toIndex.ac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95536" y="404664"/>
            <a:ext cx="5112568" cy="3888432"/>
          </a:xfrm>
        </p:spPr>
        <p:txBody>
          <a:bodyPr>
            <a:normAutofit/>
          </a:bodyPr>
          <a:lstStyle/>
          <a:p>
            <a:r>
              <a:rPr lang="en-US" altLang="zh-CN" sz="88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</a:rPr>
              <a:t>DP</a:t>
            </a:r>
            <a:r>
              <a:rPr lang="zh-CN" altLang="en-US" sz="88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</a:rPr>
              <a:t>专题</a:t>
            </a:r>
            <a:endParaRPr lang="zh-CN" altLang="en-US" sz="8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940152" y="4653136"/>
            <a:ext cx="2402195" cy="1359602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华文楷体" pitchFamily="2" charset="-122"/>
                <a:ea typeface="华文楷体" pitchFamily="2" charset="-122"/>
              </a:rPr>
              <a:t>黎政杨</a:t>
            </a:r>
          </a:p>
        </p:txBody>
      </p:sp>
    </p:spTree>
    <p:extLst>
      <p:ext uri="{BB962C8B-B14F-4D97-AF65-F5344CB8AC3E}">
        <p14:creationId xmlns:p14="http://schemas.microsoft.com/office/powerpoint/2010/main" val="442887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何</a:t>
            </a:r>
            <a:r>
              <a:rPr lang="zh-CN" altLang="en-US" dirty="0" smtClean="0"/>
              <a:t>为</a:t>
            </a:r>
            <a:r>
              <a:rPr lang="en-US" altLang="zh-CN" dirty="0" smtClean="0"/>
              <a:t>DP</a:t>
            </a:r>
            <a:r>
              <a:rPr lang="zh-CN" altLang="en-US" dirty="0" smtClean="0"/>
              <a:t>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6059016" cy="1972816"/>
          </a:xfrm>
        </p:spPr>
        <p:txBody>
          <a:bodyPr/>
          <a:lstStyle/>
          <a:p>
            <a:r>
              <a:rPr lang="zh-CN" altLang="en-US" strike="sngStrike" dirty="0" smtClean="0"/>
              <a:t>最优化原理。</a:t>
            </a:r>
            <a:endParaRPr lang="en-US" altLang="zh-CN" strike="sngStrike" dirty="0" smtClean="0"/>
          </a:p>
          <a:p>
            <a:r>
              <a:rPr lang="zh-CN" altLang="en-US" strike="sngStrike" dirty="0" smtClean="0"/>
              <a:t>无后效性。</a:t>
            </a:r>
            <a:endParaRPr lang="en-US" altLang="zh-CN" strike="sngStrike" dirty="0" smtClean="0"/>
          </a:p>
          <a:p>
            <a:r>
              <a:rPr lang="zh-CN" altLang="en-US" strike="sngStrike" dirty="0"/>
              <a:t>子</a:t>
            </a:r>
            <a:r>
              <a:rPr lang="zh-CN" altLang="en-US" strike="sngStrike" dirty="0" smtClean="0"/>
              <a:t>问题的重叠性。</a:t>
            </a:r>
            <a:endParaRPr lang="zh-CN" altLang="en-US" strike="sngStrike" dirty="0"/>
          </a:p>
        </p:txBody>
      </p:sp>
      <p:sp>
        <p:nvSpPr>
          <p:cNvPr id="4" name="TextBox 3"/>
          <p:cNvSpPr txBox="1"/>
          <p:nvPr/>
        </p:nvSpPr>
        <p:spPr>
          <a:xfrm>
            <a:off x="2123728" y="4456806"/>
            <a:ext cx="6696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latin typeface="楷体" pitchFamily="49" charset="-122"/>
                <a:ea typeface="楷体" pitchFamily="49" charset="-122"/>
              </a:rPr>
              <a:t>其实就是记录前面结果的搜索。</a:t>
            </a:r>
            <a:endParaRPr lang="zh-CN" altLang="en-US" sz="3600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9648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经典问题：小马过河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1277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有一头小马要渡过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一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条可看做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n*m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网格的小河，每到达一个网格都要滞留一定时间，求从任意点进任一点出的最少时间花费。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679765"/>
              </p:ext>
            </p:extLst>
          </p:nvPr>
        </p:nvGraphicFramePr>
        <p:xfrm>
          <a:off x="2771800" y="3501008"/>
          <a:ext cx="2903984" cy="2968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996"/>
                <a:gridCol w="725996"/>
                <a:gridCol w="725996"/>
                <a:gridCol w="725996"/>
              </a:tblGrid>
              <a:tr h="74202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</a:tr>
              <a:tr h="74202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/>
                </a:tc>
              </a:tr>
              <a:tr h="74202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</a:tr>
              <a:tr h="74202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0" name="直接箭头连接符 9"/>
          <p:cNvCxnSpPr/>
          <p:nvPr/>
        </p:nvCxnSpPr>
        <p:spPr>
          <a:xfrm flipH="1" flipV="1">
            <a:off x="5220072" y="5301208"/>
            <a:ext cx="72008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 flipV="1">
            <a:off x="4716016" y="4581128"/>
            <a:ext cx="504056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4716016" y="3861048"/>
            <a:ext cx="504056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63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DP</a:t>
            </a:r>
            <a:r>
              <a:rPr lang="zh-CN" altLang="en-US" dirty="0" smtClean="0"/>
              <a:t>的常见类型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普通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DP</a:t>
            </a:r>
          </a:p>
          <a:p>
            <a:r>
              <a:rPr lang="zh-CN" altLang="en-US" dirty="0">
                <a:latin typeface="楷体" pitchFamily="49" charset="-122"/>
                <a:ea typeface="楷体" pitchFamily="49" charset="-122"/>
              </a:rPr>
              <a:t>背包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问题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区间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DP</a:t>
            </a:r>
          </a:p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树状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DP</a:t>
            </a:r>
          </a:p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状压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DP</a:t>
            </a:r>
          </a:p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概率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DP</a:t>
            </a:r>
          </a:p>
          <a:p>
            <a:r>
              <a:rPr lang="zh-CN" altLang="en-US" strike="sngStrike" dirty="0" smtClean="0">
                <a:latin typeface="楷体" pitchFamily="49" charset="-122"/>
                <a:ea typeface="楷体" pitchFamily="49" charset="-122"/>
              </a:rPr>
              <a:t>数位</a:t>
            </a:r>
            <a:r>
              <a:rPr lang="en-US" altLang="zh-CN" strike="sngStrike" dirty="0" smtClean="0">
                <a:latin typeface="楷体" pitchFamily="49" charset="-122"/>
                <a:ea typeface="楷体" pitchFamily="49" charset="-122"/>
              </a:rPr>
              <a:t>DP</a:t>
            </a:r>
          </a:p>
          <a:p>
            <a:r>
              <a:rPr lang="zh-CN" altLang="en-US" strike="sngStrike" dirty="0" smtClean="0">
                <a:latin typeface="楷体" pitchFamily="49" charset="-122"/>
                <a:ea typeface="楷体" pitchFamily="49" charset="-122"/>
              </a:rPr>
              <a:t>插头</a:t>
            </a:r>
            <a:r>
              <a:rPr lang="en-US" altLang="zh-CN" strike="sngStrike" dirty="0" smtClean="0">
                <a:latin typeface="楷体" pitchFamily="49" charset="-122"/>
                <a:ea typeface="楷体" pitchFamily="49" charset="-122"/>
              </a:rPr>
              <a:t>DP</a:t>
            </a:r>
          </a:p>
          <a:p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………………………………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7453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普通</a:t>
            </a:r>
            <a:r>
              <a:rPr lang="en-US" altLang="zh-CN" dirty="0" smtClean="0"/>
              <a:t>DP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324744"/>
          </a:xfrm>
        </p:spPr>
        <p:txBody>
          <a:bodyPr/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不知道分到哪一类的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DP……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455081" y="2204864"/>
            <a:ext cx="8229600" cy="892696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6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60000"/>
              <a:buFont typeface="Wingdings 2"/>
              <a:buChar char="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60000"/>
              <a:buFont typeface="Wingdings 2"/>
              <a:buChar char="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60000"/>
              <a:buFont typeface="Wingdings 2"/>
              <a:buChar char="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60000"/>
              <a:buFont typeface="Wingdings 2"/>
              <a:buChar char="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/>
              <a:buNone/>
            </a:pPr>
            <a:r>
              <a:rPr lang="en-US" altLang="zh-CN" sz="3600" dirty="0" err="1" smtClean="0"/>
              <a:t>dp</a:t>
            </a:r>
            <a:r>
              <a:rPr lang="en-US" altLang="zh-CN" sz="3600" dirty="0" smtClean="0"/>
              <a:t>[i]=min{</a:t>
            </a:r>
            <a:r>
              <a:rPr lang="en-US" altLang="zh-CN" sz="3600" dirty="0" err="1" smtClean="0"/>
              <a:t>dp</a:t>
            </a:r>
            <a:r>
              <a:rPr lang="en-US" altLang="zh-CN" sz="3600" dirty="0" smtClean="0"/>
              <a:t>[0]…</a:t>
            </a:r>
            <a:r>
              <a:rPr lang="en-US" altLang="zh-CN" sz="3600" dirty="0" err="1" smtClean="0"/>
              <a:t>dp</a:t>
            </a:r>
            <a:r>
              <a:rPr lang="en-US" altLang="zh-CN" sz="3600" dirty="0" smtClean="0"/>
              <a:t>[i-1]}+</a:t>
            </a:r>
            <a:r>
              <a:rPr lang="en-US" altLang="zh-CN" sz="3600" dirty="0" err="1" smtClean="0"/>
              <a:t>val</a:t>
            </a:r>
            <a:r>
              <a:rPr lang="en-US" altLang="zh-CN" sz="3600" dirty="0" smtClean="0"/>
              <a:t>[i]</a:t>
            </a:r>
            <a:endParaRPr lang="zh-CN" alt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611560" y="3429000"/>
            <a:ext cx="74168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特点：没有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……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注意问题：别弄错题意了就行，转移方程一般都比较好写。</a:t>
            </a:r>
          </a:p>
          <a:p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887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/>
                <a:hlinkClick r:id="rId2"/>
              </a:rPr>
              <a:t>HDU 4570 Multi-bit </a:t>
            </a:r>
            <a:r>
              <a:rPr lang="en-US" altLang="zh-CN" dirty="0" err="1">
                <a:effectLst/>
                <a:hlinkClick r:id="rId2"/>
              </a:rPr>
              <a:t>Trie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93096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楷体" pitchFamily="49" charset="-122"/>
                <a:ea typeface="楷体" pitchFamily="49" charset="-122"/>
              </a:rPr>
              <a:t>一个长度为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的数列，将其分成若干段，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要求∑</a:t>
            </a:r>
            <a:r>
              <a:rPr lang="en-US" altLang="zh-CN" dirty="0" err="1" smtClean="0">
                <a:latin typeface="楷体" pitchFamily="49" charset="-122"/>
                <a:ea typeface="楷体" pitchFamily="49" charset="-122"/>
              </a:rPr>
              <a:t>a</a:t>
            </a:r>
            <a:r>
              <a:rPr lang="en-US" altLang="zh-CN" baseline="-25000" dirty="0" err="1" smtClean="0"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*2</a:t>
            </a:r>
            <a:r>
              <a:rPr lang="en-US" altLang="zh-CN" baseline="30000" dirty="0" smtClean="0">
                <a:latin typeface="楷体" pitchFamily="49" charset="-122"/>
                <a:ea typeface="楷体" pitchFamily="49" charset="-122"/>
              </a:rPr>
              <a:t>bi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最小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，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其中</a:t>
            </a:r>
            <a:r>
              <a:rPr lang="en-US" altLang="zh-CN" dirty="0" err="1">
                <a:latin typeface="楷体" pitchFamily="49" charset="-122"/>
                <a:ea typeface="楷体" pitchFamily="49" charset="-122"/>
              </a:rPr>
              <a:t>a</a:t>
            </a:r>
            <a:r>
              <a:rPr lang="en-US" altLang="zh-CN" baseline="-25000" dirty="0" err="1"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是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每一段数列的第一项，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bi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是每一段的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长度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。</a:t>
            </a:r>
          </a:p>
          <a:p>
            <a:r>
              <a:rPr lang="zh-CN" altLang="en-US" dirty="0">
                <a:latin typeface="楷体" pitchFamily="49" charset="-122"/>
                <a:ea typeface="楷体" pitchFamily="49" charset="-122"/>
              </a:rPr>
              <a:t>   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比如：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n=7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A={1 2 4 4 5 4 3}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，将其分成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1 2 4| 4 5| 4| 3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，则其所用空间为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1*2</a:t>
            </a:r>
            <a:r>
              <a:rPr lang="en-US" altLang="zh-CN" baseline="30000" dirty="0" smtClean="0">
                <a:latin typeface="楷体" pitchFamily="49" charset="-122"/>
                <a:ea typeface="楷体" pitchFamily="49" charset="-122"/>
              </a:rPr>
              <a:t>3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+4*2</a:t>
            </a:r>
            <a:r>
              <a:rPr lang="en-US" altLang="zh-CN" baseline="30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+4*2</a:t>
            </a:r>
            <a:r>
              <a:rPr lang="en-US" altLang="zh-CN" baseline="30000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+3*2</a:t>
            </a:r>
            <a:r>
              <a:rPr lang="en-US" altLang="zh-CN" baseline="30000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=38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，而如果分成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1 2| 4 4 5| 4 3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，则其所用空间为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1*2</a:t>
            </a:r>
            <a:r>
              <a:rPr lang="en-US" altLang="zh-CN" baseline="30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+4*2</a:t>
            </a:r>
            <a:r>
              <a:rPr lang="en-US" altLang="zh-CN" baseline="30000" dirty="0" smtClean="0">
                <a:latin typeface="楷体" pitchFamily="49" charset="-122"/>
                <a:ea typeface="楷体" pitchFamily="49" charset="-122"/>
              </a:rPr>
              <a:t>3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+4*2</a:t>
            </a:r>
            <a:r>
              <a:rPr lang="en-US" altLang="zh-CN" baseline="30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=52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，比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38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大。</a:t>
            </a:r>
          </a:p>
          <a:p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706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变个样子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3600" dirty="0" err="1" smtClean="0"/>
              <a:t>dp</a:t>
            </a:r>
            <a:r>
              <a:rPr lang="en-US" altLang="zh-CN" sz="3600" dirty="0" smtClean="0"/>
              <a:t>[i]=min{</a:t>
            </a:r>
            <a:r>
              <a:rPr lang="en-US" altLang="zh-CN" sz="3600" dirty="0" err="1" smtClean="0"/>
              <a:t>dp</a:t>
            </a:r>
            <a:r>
              <a:rPr lang="en-US" altLang="zh-CN" sz="3600" dirty="0" smtClean="0"/>
              <a:t>[0]…</a:t>
            </a:r>
            <a:r>
              <a:rPr lang="en-US" altLang="zh-CN" sz="3600" dirty="0" err="1" smtClean="0"/>
              <a:t>dp</a:t>
            </a:r>
            <a:r>
              <a:rPr lang="en-US" altLang="zh-CN" sz="3600" dirty="0" smtClean="0"/>
              <a:t>[i-1]}+</a:t>
            </a:r>
            <a:r>
              <a:rPr lang="en-US" altLang="zh-CN" sz="3600" dirty="0" err="1" smtClean="0"/>
              <a:t>val</a:t>
            </a:r>
            <a:r>
              <a:rPr lang="en-US" altLang="zh-CN" sz="3600" dirty="0" smtClean="0"/>
              <a:t>[i]</a:t>
            </a:r>
            <a:endParaRPr lang="zh-CN" altLang="en-US" sz="3600" dirty="0"/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3815916" y="2289246"/>
            <a:ext cx="576064" cy="93610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67544" y="3225350"/>
            <a:ext cx="80648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dp</a:t>
            </a:r>
            <a:r>
              <a:rPr lang="en-US" altLang="zh-CN" sz="3200" dirty="0"/>
              <a:t>[i</a:t>
            </a:r>
            <a:r>
              <a:rPr lang="en-US" altLang="zh-CN" sz="3200" dirty="0" smtClean="0"/>
              <a:t>]=min{f(0,1,...,j-1)</a:t>
            </a:r>
          </a:p>
          <a:p>
            <a:pPr algn="ctr"/>
            <a:r>
              <a:rPr lang="en-US" altLang="zh-CN" sz="3200" dirty="0" smtClean="0"/>
              <a:t>+g(j,j+1,...,i-1)}</a:t>
            </a:r>
            <a:endParaRPr lang="zh-CN" altLang="en-US" sz="3200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4015313" y="4179457"/>
            <a:ext cx="603684" cy="93610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04887" y="5115560"/>
            <a:ext cx="482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区间</a:t>
            </a:r>
            <a:r>
              <a:rPr lang="en-US" altLang="zh-CN" sz="3200" dirty="0" smtClean="0">
                <a:latin typeface="楷体" pitchFamily="49" charset="-122"/>
                <a:ea typeface="楷体" pitchFamily="49" charset="-122"/>
              </a:rPr>
              <a:t>DP</a:t>
            </a:r>
            <a:endParaRPr lang="zh-CN" altLang="en-US" sz="3200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941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又变个样子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3600" dirty="0" err="1" smtClean="0"/>
              <a:t>dp</a:t>
            </a:r>
            <a:r>
              <a:rPr lang="en-US" altLang="zh-CN" sz="3600" dirty="0" smtClean="0"/>
              <a:t>[i]=min{</a:t>
            </a:r>
            <a:r>
              <a:rPr lang="en-US" altLang="zh-CN" sz="3600" dirty="0" err="1" smtClean="0"/>
              <a:t>dp</a:t>
            </a:r>
            <a:r>
              <a:rPr lang="en-US" altLang="zh-CN" sz="3600" dirty="0" smtClean="0"/>
              <a:t>[0]…</a:t>
            </a:r>
            <a:r>
              <a:rPr lang="en-US" altLang="zh-CN" sz="3600" dirty="0" err="1" smtClean="0"/>
              <a:t>dp</a:t>
            </a:r>
            <a:r>
              <a:rPr lang="en-US" altLang="zh-CN" sz="3600" dirty="0" smtClean="0"/>
              <a:t>[i-1]}+</a:t>
            </a:r>
            <a:r>
              <a:rPr lang="en-US" altLang="zh-CN" sz="3600" dirty="0" err="1" smtClean="0"/>
              <a:t>val</a:t>
            </a:r>
            <a:r>
              <a:rPr lang="en-US" altLang="zh-CN" sz="3600" dirty="0" smtClean="0"/>
              <a:t>[i]</a:t>
            </a:r>
            <a:endParaRPr lang="zh-CN" altLang="en-US" sz="3600" dirty="0"/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3815916" y="2289246"/>
            <a:ext cx="576064" cy="93610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75656" y="3225350"/>
            <a:ext cx="5904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转移的下一个状态并不固定？</a:t>
            </a:r>
            <a:endParaRPr lang="zh-CN" altLang="en-US" sz="3200" dirty="0">
              <a:latin typeface="楷体" pitchFamily="49" charset="-122"/>
              <a:ea typeface="楷体" pitchFamily="49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4015313" y="4179457"/>
            <a:ext cx="603684" cy="93610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15716" y="5080002"/>
            <a:ext cx="482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树状</a:t>
            </a:r>
            <a:r>
              <a:rPr lang="en-US" altLang="zh-CN" sz="3200" dirty="0" smtClean="0">
                <a:latin typeface="楷体" pitchFamily="49" charset="-122"/>
                <a:ea typeface="楷体" pitchFamily="49" charset="-122"/>
              </a:rPr>
              <a:t>DP</a:t>
            </a:r>
            <a:endParaRPr lang="zh-CN" altLang="en-US" sz="3200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861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再变个样子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3600" dirty="0" err="1" smtClean="0"/>
              <a:t>dp</a:t>
            </a:r>
            <a:r>
              <a:rPr lang="en-US" altLang="zh-CN" sz="3600" dirty="0" smtClean="0"/>
              <a:t>[i]=min{</a:t>
            </a:r>
            <a:r>
              <a:rPr lang="en-US" altLang="zh-CN" sz="3600" dirty="0" err="1" smtClean="0"/>
              <a:t>dp</a:t>
            </a:r>
            <a:r>
              <a:rPr lang="en-US" altLang="zh-CN" sz="3600" dirty="0" smtClean="0"/>
              <a:t>[0]…</a:t>
            </a:r>
            <a:r>
              <a:rPr lang="en-US" altLang="zh-CN" sz="3600" dirty="0" err="1" smtClean="0"/>
              <a:t>dp</a:t>
            </a:r>
            <a:r>
              <a:rPr lang="en-US" altLang="zh-CN" sz="3600" dirty="0" smtClean="0"/>
              <a:t>[i-1]}+</a:t>
            </a:r>
            <a:r>
              <a:rPr lang="en-US" altLang="zh-CN" sz="3600" dirty="0" err="1" smtClean="0"/>
              <a:t>val</a:t>
            </a:r>
            <a:r>
              <a:rPr lang="en-US" altLang="zh-CN" sz="3600" dirty="0" smtClean="0"/>
              <a:t>[i]</a:t>
            </a:r>
            <a:endParaRPr lang="zh-CN" altLang="en-US" sz="3600" dirty="0"/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4015313" y="2289246"/>
            <a:ext cx="376667" cy="46805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904887" y="2636912"/>
            <a:ext cx="482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smtClean="0"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的取值跟</a:t>
            </a:r>
            <a:r>
              <a:rPr lang="en-US" altLang="zh-CN" sz="3200" dirty="0" smtClean="0">
                <a:latin typeface="楷体" pitchFamily="49" charset="-122"/>
                <a:ea typeface="楷体" pitchFamily="49" charset="-122"/>
              </a:rPr>
              <a:t>i-1</a:t>
            </a:r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有关？</a:t>
            </a:r>
            <a:endParaRPr lang="zh-CN" altLang="en-US" sz="3200" dirty="0">
              <a:latin typeface="楷体" pitchFamily="49" charset="-122"/>
              <a:ea typeface="楷体" pitchFamily="49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3788296" y="3239094"/>
            <a:ext cx="415350" cy="76597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04887" y="3861048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err="1" smtClean="0"/>
              <a:t>dp</a:t>
            </a:r>
            <a:r>
              <a:rPr lang="en-US" altLang="zh-CN" sz="2800" dirty="0" smtClean="0"/>
              <a:t>[i-1][i]</a:t>
            </a:r>
            <a:endParaRPr lang="zh-CN" altLang="en-US" sz="2800" dirty="0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3788296" y="4374396"/>
            <a:ext cx="415350" cy="56677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43406" y="4849996"/>
            <a:ext cx="4320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跟更多点有关？</a:t>
            </a:r>
            <a:endParaRPr lang="zh-CN" altLang="en-US" sz="2800" dirty="0">
              <a:latin typeface="楷体" pitchFamily="49" charset="-122"/>
              <a:ea typeface="楷体" pitchFamily="49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3788296" y="5310500"/>
            <a:ext cx="415350" cy="76597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904887" y="6021288"/>
            <a:ext cx="4683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状态压缩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DP</a:t>
            </a:r>
            <a:endParaRPr lang="zh-CN" altLang="en-US" sz="2800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504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或者这样？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3600" dirty="0" err="1" smtClean="0"/>
              <a:t>dp</a:t>
            </a:r>
            <a:r>
              <a:rPr lang="en-US" altLang="zh-CN" sz="3600" dirty="0" smtClean="0"/>
              <a:t>[i]=min{</a:t>
            </a:r>
            <a:r>
              <a:rPr lang="en-US" altLang="zh-CN" sz="3600" dirty="0" err="1" smtClean="0"/>
              <a:t>dp</a:t>
            </a:r>
            <a:r>
              <a:rPr lang="en-US" altLang="zh-CN" sz="3600" dirty="0" smtClean="0"/>
              <a:t>[0]…</a:t>
            </a:r>
            <a:r>
              <a:rPr lang="en-US" altLang="zh-CN" sz="3600" dirty="0" err="1" smtClean="0"/>
              <a:t>dp</a:t>
            </a:r>
            <a:r>
              <a:rPr lang="en-US" altLang="zh-CN" sz="3600" dirty="0" smtClean="0"/>
              <a:t>[i-1]}+</a:t>
            </a:r>
            <a:r>
              <a:rPr lang="en-US" altLang="zh-CN" sz="3600" dirty="0" err="1" smtClean="0"/>
              <a:t>val</a:t>
            </a:r>
            <a:r>
              <a:rPr lang="en-US" altLang="zh-CN" sz="3600" dirty="0" smtClean="0"/>
              <a:t>[i]</a:t>
            </a:r>
            <a:endParaRPr lang="zh-CN" altLang="en-US" sz="3600" dirty="0"/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3815916" y="2289246"/>
            <a:ext cx="576064" cy="93610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1640" y="3140968"/>
            <a:ext cx="62646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可能转移也可能不转移，且求转移到某状态的概率？</a:t>
            </a:r>
            <a:endParaRPr lang="zh-CN" altLang="en-US" sz="3200" dirty="0">
              <a:latin typeface="楷体" pitchFamily="49" charset="-122"/>
              <a:ea typeface="楷体" pitchFamily="49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4015313" y="4179457"/>
            <a:ext cx="603684" cy="93610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04887" y="5229200"/>
            <a:ext cx="482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楷体" pitchFamily="49" charset="-122"/>
                <a:ea typeface="楷体" pitchFamily="49" charset="-122"/>
              </a:rPr>
              <a:t>概率</a:t>
            </a:r>
            <a:r>
              <a:rPr lang="en-US" altLang="zh-CN" sz="3200" dirty="0" smtClean="0">
                <a:latin typeface="楷体" pitchFamily="49" charset="-122"/>
                <a:ea typeface="楷体" pitchFamily="49" charset="-122"/>
              </a:rPr>
              <a:t>DP</a:t>
            </a:r>
            <a:endParaRPr lang="zh-CN" altLang="en-US" sz="3200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026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背包问题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629000"/>
          </a:xfrm>
        </p:spPr>
        <p:txBody>
          <a:bodyPr>
            <a:normAutofit/>
          </a:bodyPr>
          <a:lstStyle/>
          <a:p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01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背包</a:t>
            </a:r>
            <a:endParaRPr lang="en-US" altLang="zh-CN" sz="28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完全背包</a:t>
            </a:r>
            <a:endParaRPr lang="en-US" altLang="zh-CN" sz="28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800" dirty="0">
                <a:latin typeface="楷体" pitchFamily="49" charset="-122"/>
                <a:ea typeface="楷体" pitchFamily="49" charset="-122"/>
              </a:rPr>
              <a:t>多重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背包</a:t>
            </a:r>
            <a:endParaRPr lang="en-US" altLang="zh-CN" sz="28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800" dirty="0">
                <a:latin typeface="楷体" pitchFamily="49" charset="-122"/>
                <a:ea typeface="楷体" pitchFamily="49" charset="-122"/>
              </a:rPr>
              <a:t>分组背包</a:t>
            </a:r>
            <a:endParaRPr lang="en-US" altLang="zh-CN" sz="28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…………………………</a:t>
            </a:r>
            <a:r>
              <a:rPr lang="en-US" altLang="zh-CN" sz="2800" dirty="0">
                <a:latin typeface="楷体" pitchFamily="49" charset="-122"/>
                <a:ea typeface="楷体" pitchFamily="49" charset="-122"/>
              </a:rPr>
              <a:t>	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								——《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背包九讲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》</a:t>
            </a:r>
            <a:endParaRPr lang="zh-CN" altLang="en-US" sz="28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1560" y="4611231"/>
            <a:ext cx="77768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特点：题目一般可以直接看出来是背包问题，如：无次序物品取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个，有限容量取物品等等。一般物品间没有关系（否则为分组背包）。</a:t>
            </a:r>
            <a:endParaRPr lang="en-US" altLang="zh-CN" sz="2800" dirty="0" smtClean="0">
              <a:latin typeface="楷体" pitchFamily="49" charset="-122"/>
              <a:ea typeface="楷体" pitchFamily="49" charset="-122"/>
            </a:endParaRPr>
          </a:p>
          <a:p>
            <a:pPr marL="285750" indent="-285750">
              <a:buFont typeface="Wingdings" pitchFamily="2" charset="2"/>
              <a:buChar char="u"/>
            </a:pPr>
            <a:r>
              <a:rPr lang="zh-CN" altLang="en-US" sz="2800" dirty="0">
                <a:latin typeface="楷体" pitchFamily="49" charset="-122"/>
                <a:ea typeface="楷体" pitchFamily="49" charset="-122"/>
              </a:rPr>
              <a:t>注意问题：转移顺序。</a:t>
            </a:r>
          </a:p>
          <a:p>
            <a:pPr marL="285750" indent="-285750">
              <a:buFont typeface="Wingdings" pitchFamily="2" charset="2"/>
              <a:buChar char="u"/>
            </a:pPr>
            <a:endParaRPr lang="zh-CN" altLang="en-US" sz="2800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430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经典例题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916832"/>
            <a:ext cx="8229600" cy="2404864"/>
          </a:xfrm>
        </p:spPr>
        <p:txBody>
          <a:bodyPr/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有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种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物品，每种物品有自己的价值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vi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和重量</a:t>
            </a:r>
            <a:r>
              <a:rPr lang="en-US" altLang="zh-CN" dirty="0" err="1" smtClean="0">
                <a:latin typeface="楷体" pitchFamily="49" charset="-122"/>
                <a:ea typeface="楷体" pitchFamily="49" charset="-122"/>
              </a:rPr>
              <a:t>wi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，每种有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件（或无数件）。如果要选择总重不超过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w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（或恰好为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w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）的物品放进背包里，求可得到的最大价值和。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695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每种物品只有一件：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01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背包</a:t>
            </a:r>
            <a:endParaRPr lang="en-US" altLang="zh-CN" sz="2800" dirty="0" smtClean="0">
              <a:latin typeface="楷体" pitchFamily="49" charset="-122"/>
              <a:ea typeface="楷体" pitchFamily="49" charset="-122"/>
            </a:endParaRPr>
          </a:p>
          <a:p>
            <a:pPr marL="0" indent="0">
              <a:buNone/>
            </a:pPr>
            <a:r>
              <a:rPr lang="en-US" altLang="zh-CN" sz="2800" dirty="0"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更新时从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w~1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更新：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	</a:t>
            </a:r>
            <a:r>
              <a:rPr lang="en-US" altLang="zh-CN" sz="2800" dirty="0" err="1" smtClean="0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[</a:t>
            </a:r>
            <a:r>
              <a:rPr lang="en-US" altLang="zh-CN" sz="2800" dirty="0" err="1" smtClean="0">
                <a:latin typeface="楷体" pitchFamily="49" charset="-122"/>
                <a:ea typeface="楷体" pitchFamily="49" charset="-122"/>
              </a:rPr>
              <a:t>i+wi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]=max(</a:t>
            </a:r>
            <a:r>
              <a:rPr lang="en-US" altLang="zh-CN" sz="2800" dirty="0" err="1" smtClean="0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[</a:t>
            </a:r>
            <a:r>
              <a:rPr lang="en-US" altLang="zh-CN" sz="2800" dirty="0" err="1" smtClean="0">
                <a:latin typeface="楷体" pitchFamily="49" charset="-122"/>
                <a:ea typeface="楷体" pitchFamily="49" charset="-122"/>
              </a:rPr>
              <a:t>i+wi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],</a:t>
            </a:r>
            <a:r>
              <a:rPr lang="en-US" altLang="zh-CN" sz="2800" dirty="0" err="1" smtClean="0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[i]+vi)</a:t>
            </a:r>
          </a:p>
          <a:p>
            <a:r>
              <a:rPr lang="zh-CN" altLang="en-US" sz="2800" dirty="0">
                <a:latin typeface="楷体" pitchFamily="49" charset="-122"/>
                <a:ea typeface="楷体" pitchFamily="49" charset="-122"/>
              </a:rPr>
              <a:t>每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种物品有多件：完全背包</a:t>
            </a:r>
            <a:endParaRPr lang="en-US" altLang="zh-CN" sz="2800" dirty="0" smtClean="0">
              <a:latin typeface="楷体" pitchFamily="49" charset="-122"/>
              <a:ea typeface="楷体" pitchFamily="49" charset="-122"/>
            </a:endParaRPr>
          </a:p>
          <a:p>
            <a:pPr marL="0" lvl="1" indent="0">
              <a:buNone/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更新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时从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1~w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更新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：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 marL="0" lvl="1" indent="0">
              <a:buNone/>
            </a:pPr>
            <a:r>
              <a:rPr lang="en-US" altLang="zh-CN" dirty="0">
                <a:latin typeface="楷体" pitchFamily="49" charset="-122"/>
                <a:ea typeface="楷体" pitchFamily="49" charset="-122"/>
              </a:rPr>
              <a:t>	</a:t>
            </a:r>
            <a:r>
              <a:rPr lang="en-US" altLang="zh-CN" dirty="0" err="1" smtClean="0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[i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]=max(</a:t>
            </a:r>
            <a:r>
              <a:rPr lang="en-US" altLang="zh-CN" dirty="0" err="1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[i],</a:t>
            </a:r>
            <a:r>
              <a:rPr lang="en-US" altLang="zh-CN" dirty="0" err="1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[i-</a:t>
            </a:r>
            <a:r>
              <a:rPr lang="en-US" altLang="zh-CN" dirty="0" err="1">
                <a:latin typeface="楷体" pitchFamily="49" charset="-122"/>
                <a:ea typeface="楷体" pitchFamily="49" charset="-122"/>
              </a:rPr>
              <a:t>wi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]+vi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)</a:t>
            </a:r>
          </a:p>
          <a:p>
            <a:pPr marL="342900" lvl="1" indent="-342900">
              <a:buFont typeface="Wingdings 2"/>
              <a:buChar char=""/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每种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物品有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mi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件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：混合背包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 marL="0" lvl="1" indent="0">
              <a:buNone/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strike="sngStrike" dirty="0" smtClean="0">
                <a:latin typeface="楷体" pitchFamily="49" charset="-122"/>
                <a:ea typeface="楷体" pitchFamily="49" charset="-122"/>
              </a:rPr>
              <a:t>拆成</a:t>
            </a:r>
            <a:r>
              <a:rPr lang="en-US" altLang="zh-CN" strike="sngStrike" dirty="0">
                <a:latin typeface="楷体" pitchFamily="49" charset="-122"/>
                <a:ea typeface="楷体" pitchFamily="49" charset="-122"/>
              </a:rPr>
              <a:t>mi</a:t>
            </a:r>
            <a:r>
              <a:rPr lang="zh-CN" altLang="en-US" strike="sngStrike" dirty="0" smtClean="0">
                <a:latin typeface="楷体" pitchFamily="49" charset="-122"/>
                <a:ea typeface="楷体" pitchFamily="49" charset="-122"/>
              </a:rPr>
              <a:t>件</a:t>
            </a:r>
            <a:r>
              <a:rPr lang="en-US" altLang="zh-CN" strike="sngStrike" dirty="0" smtClean="0">
                <a:latin typeface="楷体" pitchFamily="49" charset="-122"/>
                <a:ea typeface="楷体" pitchFamily="49" charset="-122"/>
              </a:rPr>
              <a:t>01</a:t>
            </a:r>
            <a:r>
              <a:rPr lang="zh-CN" altLang="en-US" strike="sngStrike" dirty="0">
                <a:latin typeface="楷体" pitchFamily="49" charset="-122"/>
                <a:ea typeface="楷体" pitchFamily="49" charset="-122"/>
              </a:rPr>
              <a:t>物品</a:t>
            </a:r>
            <a:endParaRPr lang="en-US" altLang="zh-CN" strike="sngStrike" dirty="0" smtClean="0">
              <a:latin typeface="楷体" pitchFamily="49" charset="-122"/>
              <a:ea typeface="楷体" pitchFamily="49" charset="-122"/>
            </a:endParaRPr>
          </a:p>
          <a:p>
            <a:pPr marL="0" lvl="1" indent="0">
              <a:buNone/>
            </a:pP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拆成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log(mi)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件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01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物品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，如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10=1+2+4+3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692696"/>
            <a:ext cx="7848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/>
              <a:t>设</a:t>
            </a:r>
            <a:r>
              <a:rPr lang="en-US" altLang="zh-CN" sz="3200" dirty="0" err="1"/>
              <a:t>dp</a:t>
            </a:r>
            <a:r>
              <a:rPr lang="en-US" altLang="zh-CN" sz="3200" dirty="0"/>
              <a:t>[i]</a:t>
            </a:r>
            <a:r>
              <a:rPr lang="zh-CN" altLang="en-US" sz="3200" dirty="0"/>
              <a:t>为总重为</a:t>
            </a:r>
            <a:r>
              <a:rPr lang="en-US" altLang="zh-CN" sz="3200" dirty="0"/>
              <a:t>i</a:t>
            </a:r>
            <a:r>
              <a:rPr lang="zh-CN" altLang="en-US" sz="3200" dirty="0"/>
              <a:t>的物品最大的</a:t>
            </a:r>
            <a:r>
              <a:rPr lang="zh-CN" altLang="en-US" sz="3200" dirty="0" smtClean="0"/>
              <a:t>价值</a:t>
            </a:r>
            <a:r>
              <a:rPr lang="en-US" altLang="zh-CN" sz="3200" dirty="0" smtClean="0"/>
              <a:t>……</a:t>
            </a:r>
            <a:endParaRPr lang="zh-CN" altLang="en-US" sz="3200" dirty="0"/>
          </a:p>
          <a:p>
            <a:pPr algn="ctr"/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1624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buFont typeface="Wingdings 2"/>
              <a:buChar char=""/>
            </a:pPr>
            <a:r>
              <a:rPr lang="zh-CN" altLang="en-US" sz="3200" dirty="0">
                <a:latin typeface="楷体" pitchFamily="49" charset="-122"/>
                <a:ea typeface="楷体" pitchFamily="49" charset="-122"/>
              </a:rPr>
              <a:t>有些物品不能同时选：分组</a:t>
            </a:r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背包</a:t>
            </a:r>
            <a:endParaRPr lang="en-US" altLang="zh-CN" sz="3200" dirty="0" smtClean="0">
              <a:latin typeface="楷体" pitchFamily="49" charset="-122"/>
              <a:ea typeface="楷体" pitchFamily="49" charset="-122"/>
            </a:endParaRPr>
          </a:p>
          <a:p>
            <a:pPr lvl="1"/>
            <a:r>
              <a:rPr lang="en-US" altLang="zh-CN" sz="3200" dirty="0" smtClean="0">
                <a:latin typeface="楷体" pitchFamily="49" charset="-122"/>
                <a:ea typeface="楷体" pitchFamily="49" charset="-122"/>
              </a:rPr>
              <a:t>for </a:t>
            </a:r>
            <a:r>
              <a:rPr lang="en-US" altLang="zh-CN" sz="3200" dirty="0" err="1">
                <a:latin typeface="楷体" pitchFamily="49" charset="-122"/>
                <a:ea typeface="楷体" pitchFamily="49" charset="-122"/>
              </a:rPr>
              <a:t>所有的组k</a:t>
            </a:r>
            <a:r>
              <a:rPr lang="en-US" altLang="zh-CN" sz="3200" dirty="0">
                <a:latin typeface="楷体" pitchFamily="49" charset="-122"/>
                <a:ea typeface="楷体" pitchFamily="49" charset="-122"/>
              </a:rPr>
              <a:t> </a:t>
            </a:r>
            <a:endParaRPr lang="en-US" altLang="zh-CN" sz="3200" dirty="0" smtClean="0">
              <a:latin typeface="楷体" pitchFamily="49" charset="-122"/>
              <a:ea typeface="楷体" pitchFamily="49" charset="-122"/>
            </a:endParaRPr>
          </a:p>
          <a:p>
            <a:pPr lvl="2"/>
            <a:r>
              <a:rPr lang="en-US" altLang="zh-CN" sz="3200" dirty="0" smtClean="0">
                <a:latin typeface="楷体" pitchFamily="49" charset="-122"/>
                <a:ea typeface="楷体" pitchFamily="49" charset="-122"/>
              </a:rPr>
              <a:t>for i=w..</a:t>
            </a:r>
            <a:r>
              <a:rPr lang="en-US" altLang="zh-CN" sz="3200" dirty="0">
                <a:latin typeface="楷体" pitchFamily="49" charset="-122"/>
                <a:ea typeface="楷体" pitchFamily="49" charset="-122"/>
              </a:rPr>
              <a:t>0 </a:t>
            </a:r>
            <a:endParaRPr lang="en-US" altLang="zh-CN" sz="3200" dirty="0" smtClean="0">
              <a:latin typeface="楷体" pitchFamily="49" charset="-122"/>
              <a:ea typeface="楷体" pitchFamily="49" charset="-122"/>
            </a:endParaRPr>
          </a:p>
          <a:p>
            <a:pPr lvl="3"/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for </a:t>
            </a:r>
            <a:r>
              <a:rPr lang="en-US" altLang="zh-CN" sz="2800" dirty="0" err="1" smtClean="0">
                <a:latin typeface="楷体" pitchFamily="49" charset="-122"/>
                <a:ea typeface="楷体" pitchFamily="49" charset="-122"/>
              </a:rPr>
              <a:t>所有的j属于组</a:t>
            </a:r>
            <a:r>
              <a:rPr lang="en-US" altLang="zh-CN" sz="2800" dirty="0" err="1">
                <a:latin typeface="楷体" pitchFamily="49" charset="-122"/>
                <a:ea typeface="楷体" pitchFamily="49" charset="-122"/>
              </a:rPr>
              <a:t>k</a:t>
            </a:r>
            <a:r>
              <a:rPr lang="en-US" altLang="zh-CN" sz="2800" dirty="0">
                <a:latin typeface="楷体" pitchFamily="49" charset="-122"/>
                <a:ea typeface="楷体" pitchFamily="49" charset="-122"/>
              </a:rPr>
              <a:t> </a:t>
            </a:r>
            <a:endParaRPr lang="en-US" altLang="zh-CN" sz="2800" dirty="0" smtClean="0">
              <a:latin typeface="楷体" pitchFamily="49" charset="-122"/>
              <a:ea typeface="楷体" pitchFamily="49" charset="-122"/>
            </a:endParaRPr>
          </a:p>
          <a:p>
            <a:pPr lvl="4"/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f[i]=max{f[i],f[i-</a:t>
            </a:r>
            <a:r>
              <a:rPr lang="en-US" altLang="zh-CN" sz="2800" dirty="0" err="1" smtClean="0">
                <a:latin typeface="楷体" pitchFamily="49" charset="-122"/>
                <a:ea typeface="楷体" pitchFamily="49" charset="-122"/>
              </a:rPr>
              <a:t>wj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]+</a:t>
            </a:r>
            <a:r>
              <a:rPr lang="en-US" altLang="zh-CN" sz="2800" dirty="0" err="1" smtClean="0">
                <a:latin typeface="楷体" pitchFamily="49" charset="-122"/>
                <a:ea typeface="楷体" pitchFamily="49" charset="-122"/>
              </a:rPr>
              <a:t>vj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}</a:t>
            </a:r>
            <a:endParaRPr lang="zh-CN" altLang="en-US" sz="2800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8919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区间</a:t>
            </a:r>
            <a:r>
              <a:rPr lang="en-US" altLang="zh-CN" dirty="0" smtClean="0"/>
              <a:t>DP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3501008"/>
            <a:ext cx="8229600" cy="2304256"/>
          </a:xfrm>
        </p:spPr>
        <p:txBody>
          <a:bodyPr>
            <a:no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特点：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可以从题面看出来。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数据不大。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注意问题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转移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的顺序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是否可以二分找到最优断点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19872" y="1547500"/>
            <a:ext cx="48605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905926" y="1556792"/>
            <a:ext cx="145816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364088" y="1556792"/>
            <a:ext cx="504056" cy="3600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上弧形箭头 13"/>
          <p:cNvSpPr/>
          <p:nvPr/>
        </p:nvSpPr>
        <p:spPr>
          <a:xfrm>
            <a:off x="3662898" y="836712"/>
            <a:ext cx="1773197" cy="50405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34218" y="1255112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普通</a:t>
            </a:r>
            <a:r>
              <a:rPr lang="en-US" altLang="zh-CN" sz="3200" dirty="0" smtClean="0">
                <a:latin typeface="楷体" pitchFamily="49" charset="-122"/>
                <a:ea typeface="楷体" pitchFamily="49" charset="-122"/>
              </a:rPr>
              <a:t>DP</a:t>
            </a:r>
            <a:endParaRPr lang="zh-CN" altLang="en-US" sz="32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07704" y="2358172"/>
            <a:ext cx="201622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923928" y="2358172"/>
            <a:ext cx="1944216" cy="36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6579223" y="2624436"/>
            <a:ext cx="17101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楷体" pitchFamily="49" charset="-122"/>
                <a:ea typeface="楷体" pitchFamily="49" charset="-122"/>
              </a:rPr>
              <a:t>区间</a:t>
            </a:r>
            <a:r>
              <a:rPr lang="en-US" altLang="zh-CN" sz="3200" dirty="0" smtClean="0">
                <a:latin typeface="楷体" pitchFamily="49" charset="-122"/>
                <a:ea typeface="楷体" pitchFamily="49" charset="-122"/>
              </a:rPr>
              <a:t>DP</a:t>
            </a:r>
            <a:endParaRPr lang="zh-CN" altLang="en-US" sz="32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07704" y="1547500"/>
            <a:ext cx="151216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907704" y="3140968"/>
            <a:ext cx="3960440" cy="3600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下箭头 25"/>
          <p:cNvSpPr/>
          <p:nvPr/>
        </p:nvSpPr>
        <p:spPr>
          <a:xfrm>
            <a:off x="2893956" y="2713926"/>
            <a:ext cx="216024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下箭头 26"/>
          <p:cNvSpPr/>
          <p:nvPr/>
        </p:nvSpPr>
        <p:spPr>
          <a:xfrm>
            <a:off x="4526995" y="2732158"/>
            <a:ext cx="216024" cy="36933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47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  <p:bldP spid="14" grpId="0" animBg="1"/>
      <p:bldP spid="16" grpId="0"/>
      <p:bldP spid="17" grpId="0" animBg="1"/>
      <p:bldP spid="18" grpId="0" animBg="1"/>
      <p:bldP spid="21" grpId="0"/>
      <p:bldP spid="23" grpId="0" animBg="1"/>
      <p:bldP spid="24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经典例题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1612775"/>
          </a:xfrm>
        </p:spPr>
        <p:txBody>
          <a:bodyPr>
            <a:no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一根有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L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段的木棍，每秒有一段会消失，每段消失的概率相同。之后形成的新的木棍具有同样性质。求木棍完全消失的期望时间。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93072" y="3538460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441144" y="3538460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089216" y="3538460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92940" y="3542260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341012" y="3542260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989084" y="3542260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637156" y="3538460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285228" y="3538460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933300" y="3538460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793072" y="4323576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441144" y="4323576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089216" y="4323576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341012" y="4327376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989084" y="4327376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637156" y="4323576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6285228" y="4323576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933300" y="4323576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793072" y="5157192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441144" y="5157192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4341012" y="5160992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4989084" y="5160992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285228" y="5157192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6933300" y="5157192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下箭头 30"/>
          <p:cNvSpPr/>
          <p:nvPr/>
        </p:nvSpPr>
        <p:spPr>
          <a:xfrm>
            <a:off x="4535996" y="3902300"/>
            <a:ext cx="324036" cy="39459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下箭头 40"/>
          <p:cNvSpPr/>
          <p:nvPr/>
        </p:nvSpPr>
        <p:spPr>
          <a:xfrm>
            <a:off x="4545712" y="4733174"/>
            <a:ext cx="324036" cy="39459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65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4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假如</a:t>
            </a:r>
            <a:r>
              <a:rPr lang="en-US" altLang="zh-CN" dirty="0" err="1" smtClean="0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[i]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表示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长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为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的木棍消失的期望时间，则</a:t>
            </a:r>
            <a:r>
              <a:rPr lang="en-US" altLang="zh-CN" dirty="0" err="1" smtClean="0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[i]=(</a:t>
            </a:r>
            <a:r>
              <a:rPr lang="en-US" altLang="zh-CN" dirty="0" err="1" smtClean="0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[i-1]+(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∑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min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dirty="0" err="1" smtClean="0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[k],</a:t>
            </a:r>
            <a:r>
              <a:rPr lang="en-US" altLang="zh-CN" dirty="0" err="1" smtClean="0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[i-k-1]))+</a:t>
            </a:r>
            <a:r>
              <a:rPr lang="en-US" altLang="zh-CN" dirty="0" err="1" smtClean="0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[i-1])/i+1;</a:t>
            </a:r>
          </a:p>
          <a:p>
            <a:endParaRPr lang="en-US" altLang="zh-CN" dirty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即等于两段新木棍（或还是一段）的期望的最小值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+1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69036" y="908720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117108" y="908720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765180" y="908720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368904" y="912520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16976" y="912520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665048" y="912520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313120" y="908720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961192" y="908720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609264" y="908720"/>
            <a:ext cx="648072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56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树状</a:t>
            </a:r>
            <a:r>
              <a:rPr lang="en-US" altLang="zh-CN" dirty="0" smtClean="0"/>
              <a:t>DP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2852936"/>
            <a:ext cx="8229600" cy="3384376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特点：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 lvl="1"/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发生在一棵树上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……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（废话）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 lvl="1"/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一般从儿子转移（也从父亲转移？看概率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DP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）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dirty="0">
                <a:latin typeface="楷体" pitchFamily="49" charset="-122"/>
                <a:ea typeface="楷体" pitchFamily="49" charset="-122"/>
              </a:rPr>
              <a:t>注意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问题：一般要用到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DFS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，但是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DP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里做的事情可能会太多导致爆栈，最好尽可能地将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DFS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部分放到前面，或者拆成几个函数多做几次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DP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。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2671332" y="867092"/>
            <a:ext cx="360040" cy="36004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311292" y="1659180"/>
            <a:ext cx="360040" cy="36004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074232" y="1667212"/>
            <a:ext cx="360040" cy="36004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6572" y="2595284"/>
            <a:ext cx="360040" cy="36004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2536685" y="1174405"/>
            <a:ext cx="232747" cy="4847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5" idx="5"/>
            <a:endCxn id="8" idx="1"/>
          </p:cNvCxnSpPr>
          <p:nvPr/>
        </p:nvCxnSpPr>
        <p:spPr>
          <a:xfrm>
            <a:off x="2978645" y="1174405"/>
            <a:ext cx="148314" cy="5455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8" idx="3"/>
            <a:endCxn id="9" idx="0"/>
          </p:cNvCxnSpPr>
          <p:nvPr/>
        </p:nvCxnSpPr>
        <p:spPr>
          <a:xfrm flipH="1">
            <a:off x="2906592" y="1974525"/>
            <a:ext cx="220367" cy="62075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13069" y="853937"/>
            <a:ext cx="52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1"/>
                </a:solidFill>
              </a:rPr>
              <a:t>i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21425" y="1649033"/>
            <a:ext cx="52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j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76132" y="1662566"/>
            <a:ext cx="52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k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44325" y="2572258"/>
            <a:ext cx="529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chemeClr val="bg1"/>
                </a:solidFill>
              </a:rPr>
              <a:t>l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06059" y="1416792"/>
            <a:ext cx="49263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 smtClean="0"/>
              <a:t>dp</a:t>
            </a:r>
            <a:r>
              <a:rPr lang="en-US" altLang="zh-CN" sz="3200" dirty="0" smtClean="0"/>
              <a:t>[i]=max{</a:t>
            </a:r>
            <a:r>
              <a:rPr lang="en-US" altLang="zh-CN" sz="3200" dirty="0" err="1" smtClean="0"/>
              <a:t>dp</a:t>
            </a:r>
            <a:r>
              <a:rPr lang="en-US" altLang="zh-CN" sz="3200" dirty="0" smtClean="0"/>
              <a:t>[j],</a:t>
            </a:r>
            <a:r>
              <a:rPr lang="en-US" altLang="zh-CN" sz="3200" dirty="0" err="1" smtClean="0"/>
              <a:t>dp</a:t>
            </a:r>
            <a:r>
              <a:rPr lang="en-US" altLang="zh-CN" sz="3200" dirty="0" smtClean="0"/>
              <a:t>[k]}+</a:t>
            </a:r>
            <a:r>
              <a:rPr lang="en-US" altLang="zh-CN" sz="3200" dirty="0" err="1" smtClean="0"/>
              <a:t>val</a:t>
            </a:r>
            <a:r>
              <a:rPr lang="en-US" altLang="zh-CN" sz="3200" dirty="0" smtClean="0"/>
              <a:t>[i]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22936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经典例题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48680"/>
          </a:xfrm>
        </p:spPr>
        <p:txBody>
          <a:bodyPr/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求一棵树上的最长链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2348880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对于每个点，求出它的子树中最长的两条链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len1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len2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（有的话），那么树上最长链可能是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len1+len2+1.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然后返回</a:t>
            </a: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len1+1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给它的父亲。</a:t>
            </a:r>
            <a:endParaRPr lang="zh-CN" altLang="en-US" sz="24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201768" y="3539297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913736" y="3997058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345784" y="4437112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599888" y="4439201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23376" y="5013176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884200" y="5015265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13736" y="5805264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633816" y="5032594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>
            <a:stCxn id="6" idx="3"/>
            <a:endCxn id="7" idx="7"/>
          </p:cNvCxnSpPr>
          <p:nvPr/>
        </p:nvCxnSpPr>
        <p:spPr>
          <a:xfrm flipH="1">
            <a:off x="1159587" y="3785148"/>
            <a:ext cx="84362" cy="2540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7" idx="3"/>
            <a:endCxn id="9" idx="7"/>
          </p:cNvCxnSpPr>
          <p:nvPr/>
        </p:nvCxnSpPr>
        <p:spPr>
          <a:xfrm flipH="1">
            <a:off x="845739" y="4242909"/>
            <a:ext cx="110178" cy="2384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9" idx="3"/>
            <a:endCxn id="10" idx="7"/>
          </p:cNvCxnSpPr>
          <p:nvPr/>
        </p:nvCxnSpPr>
        <p:spPr>
          <a:xfrm flipH="1">
            <a:off x="569227" y="4685052"/>
            <a:ext cx="72842" cy="3703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9" idx="5"/>
            <a:endCxn id="11" idx="1"/>
          </p:cNvCxnSpPr>
          <p:nvPr/>
        </p:nvCxnSpPr>
        <p:spPr>
          <a:xfrm>
            <a:off x="845739" y="4685052"/>
            <a:ext cx="80642" cy="37239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11" idx="4"/>
            <a:endCxn id="12" idx="0"/>
          </p:cNvCxnSpPr>
          <p:nvPr/>
        </p:nvCxnSpPr>
        <p:spPr>
          <a:xfrm>
            <a:off x="1028216" y="5303297"/>
            <a:ext cx="29536" cy="5019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stCxn id="7" idx="5"/>
            <a:endCxn id="8" idx="1"/>
          </p:cNvCxnSpPr>
          <p:nvPr/>
        </p:nvCxnSpPr>
        <p:spPr>
          <a:xfrm>
            <a:off x="1159587" y="4242909"/>
            <a:ext cx="228378" cy="2363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stCxn id="8" idx="5"/>
            <a:endCxn id="13" idx="0"/>
          </p:cNvCxnSpPr>
          <p:nvPr/>
        </p:nvCxnSpPr>
        <p:spPr>
          <a:xfrm>
            <a:off x="1591635" y="4682963"/>
            <a:ext cx="186197" cy="3496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椭圆 41"/>
          <p:cNvSpPr/>
          <p:nvPr/>
        </p:nvSpPr>
        <p:spPr>
          <a:xfrm>
            <a:off x="2929536" y="4479293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2653024" y="5053268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3213848" y="5055357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3243384" y="5845356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>
            <a:stCxn id="44" idx="4"/>
            <a:endCxn id="45" idx="0"/>
          </p:cNvCxnSpPr>
          <p:nvPr/>
        </p:nvCxnSpPr>
        <p:spPr>
          <a:xfrm>
            <a:off x="3357864" y="5343389"/>
            <a:ext cx="29536" cy="5019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椭圆 68"/>
          <p:cNvSpPr/>
          <p:nvPr/>
        </p:nvSpPr>
        <p:spPr>
          <a:xfrm>
            <a:off x="4860032" y="4006970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/>
          <p:cNvSpPr/>
          <p:nvPr/>
        </p:nvSpPr>
        <p:spPr>
          <a:xfrm>
            <a:off x="5292080" y="4447024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4546184" y="4449113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/>
          <p:cNvSpPr/>
          <p:nvPr/>
        </p:nvSpPr>
        <p:spPr>
          <a:xfrm>
            <a:off x="4830496" y="5025177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/>
        </p:nvSpPr>
        <p:spPr>
          <a:xfrm>
            <a:off x="4860032" y="5815176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>
            <a:off x="5580112" y="5042506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9" name="直接连接符 78"/>
          <p:cNvCxnSpPr>
            <a:stCxn id="71" idx="5"/>
            <a:endCxn id="73" idx="1"/>
          </p:cNvCxnSpPr>
          <p:nvPr/>
        </p:nvCxnSpPr>
        <p:spPr>
          <a:xfrm>
            <a:off x="4792035" y="4694964"/>
            <a:ext cx="80642" cy="37239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stCxn id="73" idx="4"/>
            <a:endCxn id="74" idx="0"/>
          </p:cNvCxnSpPr>
          <p:nvPr/>
        </p:nvCxnSpPr>
        <p:spPr>
          <a:xfrm>
            <a:off x="4974512" y="5313209"/>
            <a:ext cx="29536" cy="5019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接连接符 81"/>
          <p:cNvCxnSpPr>
            <a:stCxn id="70" idx="5"/>
            <a:endCxn id="75" idx="0"/>
          </p:cNvCxnSpPr>
          <p:nvPr/>
        </p:nvCxnSpPr>
        <p:spPr>
          <a:xfrm>
            <a:off x="5537931" y="4692875"/>
            <a:ext cx="186197" cy="3496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椭圆 82"/>
          <p:cNvSpPr/>
          <p:nvPr/>
        </p:nvSpPr>
        <p:spPr>
          <a:xfrm>
            <a:off x="7452320" y="3549209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/>
          <p:cNvSpPr/>
          <p:nvPr/>
        </p:nvSpPr>
        <p:spPr>
          <a:xfrm>
            <a:off x="7164288" y="4006970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/>
          <p:cNvSpPr/>
          <p:nvPr/>
        </p:nvSpPr>
        <p:spPr>
          <a:xfrm>
            <a:off x="6850440" y="4449113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/>
          <p:cNvSpPr/>
          <p:nvPr/>
        </p:nvSpPr>
        <p:spPr>
          <a:xfrm>
            <a:off x="7134752" y="5025177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/>
          <p:cNvSpPr/>
          <p:nvPr/>
        </p:nvSpPr>
        <p:spPr>
          <a:xfrm>
            <a:off x="7164288" y="5815176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连接符 91"/>
          <p:cNvCxnSpPr>
            <a:stCxn id="84" idx="3"/>
            <a:endCxn id="86" idx="7"/>
          </p:cNvCxnSpPr>
          <p:nvPr/>
        </p:nvCxnSpPr>
        <p:spPr>
          <a:xfrm flipH="1">
            <a:off x="7096291" y="4252821"/>
            <a:ext cx="110178" cy="2384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接连接符 93"/>
          <p:cNvCxnSpPr>
            <a:stCxn id="86" idx="5"/>
            <a:endCxn id="88" idx="1"/>
          </p:cNvCxnSpPr>
          <p:nvPr/>
        </p:nvCxnSpPr>
        <p:spPr>
          <a:xfrm>
            <a:off x="7096291" y="4694964"/>
            <a:ext cx="80642" cy="37239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stCxn id="88" idx="4"/>
            <a:endCxn id="89" idx="0"/>
          </p:cNvCxnSpPr>
          <p:nvPr/>
        </p:nvCxnSpPr>
        <p:spPr>
          <a:xfrm>
            <a:off x="7278768" y="5313209"/>
            <a:ext cx="29536" cy="5019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右箭头 97"/>
          <p:cNvSpPr/>
          <p:nvPr/>
        </p:nvSpPr>
        <p:spPr>
          <a:xfrm>
            <a:off x="1921848" y="4581128"/>
            <a:ext cx="763648" cy="27665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右箭头 98"/>
          <p:cNvSpPr/>
          <p:nvPr/>
        </p:nvSpPr>
        <p:spPr>
          <a:xfrm>
            <a:off x="3641812" y="4581128"/>
            <a:ext cx="763648" cy="27665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右箭头 99"/>
          <p:cNvSpPr/>
          <p:nvPr/>
        </p:nvSpPr>
        <p:spPr>
          <a:xfrm>
            <a:off x="6104464" y="4581128"/>
            <a:ext cx="763648" cy="27665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973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69" grpId="0" animBg="1"/>
      <p:bldP spid="70" grpId="0" animBg="1"/>
      <p:bldP spid="71" grpId="0" animBg="1"/>
      <p:bldP spid="73" grpId="0" animBg="1"/>
      <p:bldP spid="74" grpId="0" animBg="1"/>
      <p:bldP spid="75" grpId="0" animBg="1"/>
      <p:bldP spid="83" grpId="0" animBg="1"/>
      <p:bldP spid="84" grpId="0" animBg="1"/>
      <p:bldP spid="86" grpId="0" animBg="1"/>
      <p:bldP spid="88" grpId="0" animBg="1"/>
      <p:bldP spid="89" grpId="0" animBg="1"/>
      <p:bldP spid="98" grpId="0" animBg="1"/>
      <p:bldP spid="99" grpId="0" animBg="1"/>
      <p:bldP spid="10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状压</a:t>
            </a:r>
            <a:r>
              <a:rPr lang="en-US" altLang="zh-CN" dirty="0" smtClean="0"/>
              <a:t>DP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特点：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 lvl="1"/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某些关键数据很小，一般为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8~15</a:t>
            </a:r>
          </a:p>
          <a:p>
            <a:pPr lvl="1"/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状态只由小数据的组合构成。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dirty="0">
                <a:latin typeface="楷体" pitchFamily="49" charset="-122"/>
                <a:ea typeface="楷体" pitchFamily="49" charset="-122"/>
              </a:rPr>
              <a:t>注意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问题：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 lvl="1"/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数组大小要合适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 lvl="1"/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（比如访问一些点的最优顺序问题）哪些是不可能的状态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 lvl="1"/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状态更新的顺序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8322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经典例题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6792"/>
          </a:xfrm>
        </p:spPr>
        <p:txBody>
          <a:bodyPr/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平面上有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15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个点，点和点间的距离是欧几里得距离，任意三点不共线。求，任选一个点出发，访问全部点所走的最短路径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7584" y="5301208"/>
            <a:ext cx="7488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(0    0     1     0    0   ……    0)</a:t>
            </a:r>
            <a:r>
              <a:rPr lang="en-US" altLang="zh-CN" sz="2800" b="1" baseline="-25000" dirty="0"/>
              <a:t>2</a:t>
            </a:r>
            <a:endParaRPr lang="zh-CN" altLang="en-US" sz="2800" b="1" dirty="0"/>
          </a:p>
        </p:txBody>
      </p:sp>
      <p:cxnSp>
        <p:nvCxnSpPr>
          <p:cNvPr id="6" name="直接箭头连接符 5"/>
          <p:cNvCxnSpPr/>
          <p:nvPr/>
        </p:nvCxnSpPr>
        <p:spPr>
          <a:xfrm>
            <a:off x="1202433" y="4797152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25434" y="3282888"/>
            <a:ext cx="553998" cy="17240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dirty="0" smtClean="0"/>
              <a:t>未访问点</a:t>
            </a:r>
            <a:r>
              <a:rPr lang="en-US" altLang="zh-CN" sz="2400" dirty="0" smtClean="0"/>
              <a:t>1</a:t>
            </a:r>
            <a:endParaRPr lang="zh-CN" altLang="en-US" sz="2400" dirty="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2108920" y="4797152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31921" y="3282888"/>
            <a:ext cx="553998" cy="165199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dirty="0" smtClean="0"/>
              <a:t>未访问点</a:t>
            </a:r>
            <a:r>
              <a:rPr lang="en-US" altLang="zh-CN" sz="2400" dirty="0"/>
              <a:t>2</a:t>
            </a:r>
            <a:endParaRPr lang="zh-CN" altLang="en-US" sz="2400" dirty="0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3146649" y="4801344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23483" y="3282888"/>
            <a:ext cx="553998" cy="151426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dirty="0"/>
              <a:t>已</a:t>
            </a:r>
            <a:r>
              <a:rPr lang="zh-CN" altLang="en-US" sz="2400" dirty="0" smtClean="0"/>
              <a:t>访问点</a:t>
            </a:r>
            <a:r>
              <a:rPr lang="en-US" altLang="zh-CN" sz="2400" dirty="0"/>
              <a:t>3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9433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概率</a:t>
            </a:r>
            <a:r>
              <a:rPr lang="en-US" altLang="zh-CN" dirty="0" smtClean="0"/>
              <a:t>DP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1299"/>
          </a:xfrm>
        </p:spPr>
        <p:txBody>
          <a:bodyPr>
            <a:norm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特点：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不是所有跟概率搭边的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DP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都叫概率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DP</a:t>
            </a:r>
          </a:p>
          <a:p>
            <a:pPr lvl="1"/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个状态跟前面的有关也跟后面的有关。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想暴力算的话会无穷无尽地算下去，只能在算出的数很小时停止。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注意问题：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不要遗漏任何一项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不要写错常数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不要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弄错起始状态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1560" y="141277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 smtClean="0"/>
              <a:t>dp</a:t>
            </a:r>
            <a:r>
              <a:rPr lang="en-US" altLang="zh-CN" sz="3200" dirty="0" smtClean="0"/>
              <a:t>[i]=</a:t>
            </a:r>
            <a:r>
              <a:rPr lang="en-US" altLang="zh-CN" sz="3200" dirty="0" err="1" smtClean="0"/>
              <a:t>dp</a:t>
            </a:r>
            <a:r>
              <a:rPr lang="en-US" altLang="zh-CN" sz="3200" dirty="0" smtClean="0"/>
              <a:t>[i-1]*p1+dp[i]*p2+dp[i+1]*p3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16094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经典例题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88840"/>
          </a:xfrm>
        </p:spPr>
        <p:txBody>
          <a:bodyPr/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有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n-1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个人和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个吸血鬼，每天有且只有两个“人”相遇。如果相遇的是一个人和一个吸血鬼，则该人第二天变成吸血鬼的概率是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p.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求全部人变成吸血鬼的期望天数。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900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楷体" pitchFamily="49" charset="-122"/>
                <a:ea typeface="楷体" pitchFamily="49" charset="-122"/>
              </a:rPr>
              <a:t>设</a:t>
            </a:r>
            <a:r>
              <a:rPr lang="en-US" altLang="zh-CN" dirty="0" err="1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[i]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表示从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个吸血鬼变成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个吸血鬼的期望天数，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p1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是已有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个吸血鬼时第二天有人变成吸血鬼的概率，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p2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是没人变成吸血鬼的概率。</a:t>
            </a:r>
            <a:endParaRPr lang="en-US" altLang="zh-CN" dirty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dirty="0">
                <a:latin typeface="楷体" pitchFamily="49" charset="-122"/>
                <a:ea typeface="楷体" pitchFamily="49" charset="-122"/>
              </a:rPr>
              <a:t>则：</a:t>
            </a:r>
            <a:r>
              <a:rPr lang="en-US" altLang="zh-CN" dirty="0" err="1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[i]=(</a:t>
            </a:r>
            <a:r>
              <a:rPr lang="en-US" altLang="zh-CN" dirty="0" err="1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[i+1]+1)*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p1+(</a:t>
            </a:r>
            <a:r>
              <a:rPr lang="en-US" altLang="zh-CN" dirty="0" err="1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[i]+1)*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p2</a:t>
            </a:r>
            <a:endParaRPr lang="en-US" altLang="zh-CN" dirty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dirty="0">
                <a:latin typeface="楷体" pitchFamily="49" charset="-122"/>
                <a:ea typeface="楷体" pitchFamily="49" charset="-122"/>
              </a:rPr>
              <a:t>移项后 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p1*</a:t>
            </a:r>
            <a:r>
              <a:rPr lang="en-US" altLang="zh-CN" dirty="0" err="1" smtClean="0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[i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]=</a:t>
            </a:r>
            <a:r>
              <a:rPr lang="en-US" altLang="zh-CN" dirty="0" err="1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[i+1]*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p1+1</a:t>
            </a:r>
            <a:endParaRPr lang="en-US" altLang="zh-CN" dirty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dirty="0">
                <a:latin typeface="楷体" pitchFamily="49" charset="-122"/>
                <a:ea typeface="楷体" pitchFamily="49" charset="-122"/>
              </a:rPr>
              <a:t>注意这里是倒着做的，因为</a:t>
            </a:r>
            <a:r>
              <a:rPr lang="en-US" altLang="zh-CN" dirty="0" err="1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[n]=0,</a:t>
            </a:r>
            <a:r>
              <a:rPr lang="zh-CN" altLang="en-US" dirty="0">
                <a:latin typeface="楷体" pitchFamily="49" charset="-122"/>
                <a:ea typeface="楷体" pitchFamily="49" charset="-122"/>
              </a:rPr>
              <a:t>所以可以求出</a:t>
            </a:r>
            <a:r>
              <a:rPr lang="en-US" altLang="zh-CN" dirty="0" err="1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[n-1]…</a:t>
            </a:r>
            <a:r>
              <a:rPr lang="en-US" altLang="zh-CN" dirty="0" err="1">
                <a:latin typeface="楷体" pitchFamily="49" charset="-122"/>
                <a:ea typeface="楷体" pitchFamily="49" charset="-122"/>
              </a:rPr>
              <a:t>dp</a:t>
            </a:r>
            <a:r>
              <a:rPr lang="en-US" altLang="zh-CN" dirty="0">
                <a:latin typeface="楷体" pitchFamily="49" charset="-122"/>
                <a:ea typeface="楷体" pitchFamily="49" charset="-122"/>
              </a:rPr>
              <a:t>[1]</a:t>
            </a:r>
          </a:p>
          <a:p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927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复杂一点的概率</a:t>
            </a:r>
            <a:r>
              <a:rPr lang="en-US" altLang="zh-CN" dirty="0" smtClean="0"/>
              <a:t>DP</a:t>
            </a:r>
            <a:r>
              <a:rPr lang="zh-CN" altLang="en-US" dirty="0" smtClean="0"/>
              <a:t>：</a:t>
            </a:r>
            <a:r>
              <a:rPr lang="en-US" altLang="zh-CN" dirty="0" smtClean="0"/>
              <a:t>HDU4035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756791"/>
          </a:xfrm>
        </p:spPr>
        <p:txBody>
          <a:bodyPr>
            <a:noAutofit/>
          </a:bodyPr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一棵树，从根出发，每到一个点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时，</a:t>
            </a:r>
            <a:r>
              <a:rPr lang="en-US" altLang="zh-CN" dirty="0" err="1" smtClean="0">
                <a:latin typeface="楷体" pitchFamily="49" charset="-122"/>
                <a:ea typeface="楷体" pitchFamily="49" charset="-122"/>
              </a:rPr>
              <a:t>ki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的可能回到根，</a:t>
            </a:r>
            <a:r>
              <a:rPr lang="en-US" altLang="zh-CN" dirty="0" err="1" smtClean="0">
                <a:latin typeface="楷体" pitchFamily="49" charset="-122"/>
                <a:ea typeface="楷体" pitchFamily="49" charset="-122"/>
              </a:rPr>
              <a:t>ei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的概率脱离，剩下的概率等可能地向相邻的点移动（包括来时的点），求脱离时的走过边数的期望。</a:t>
            </a:r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8544" y="4149080"/>
            <a:ext cx="80648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复杂在哪里？没有终点。上一题变成</a:t>
            </a:r>
            <a:r>
              <a:rPr lang="en-US" altLang="zh-CN" sz="3200" dirty="0" smtClean="0"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个吸血鬼就结束，不会变少</a:t>
            </a:r>
            <a:r>
              <a:rPr lang="zh-CN" altLang="en-US" sz="3200" dirty="0">
                <a:latin typeface="楷体" pitchFamily="49" charset="-122"/>
                <a:ea typeface="楷体" pitchFamily="49" charset="-122"/>
              </a:rPr>
              <a:t>。</a:t>
            </a:r>
            <a:r>
              <a:rPr lang="zh-CN" altLang="en-US" sz="3200" dirty="0" smtClean="0">
                <a:latin typeface="楷体" pitchFamily="49" charset="-122"/>
                <a:ea typeface="楷体" pitchFamily="49" charset="-122"/>
              </a:rPr>
              <a:t>但是这里可能往回走，还可能直接回到根。</a:t>
            </a:r>
            <a:endParaRPr lang="zh-CN" altLang="en-US" sz="3200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957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48680"/>
          </a:xfrm>
        </p:spPr>
        <p:txBody>
          <a:bodyPr/>
          <a:lstStyle/>
          <a:p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本质是一样的，都是解未知数方程：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2492896"/>
            <a:ext cx="813690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设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为从根出发脱离的期望，</a:t>
            </a:r>
            <a:r>
              <a:rPr lang="en-US" altLang="zh-CN" sz="2800" dirty="0" err="1" smtClean="0">
                <a:latin typeface="楷体" pitchFamily="49" charset="-122"/>
                <a:ea typeface="楷体" pitchFamily="49" charset="-122"/>
              </a:rPr>
              <a:t>fa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为当前节点的父亲脱离的期望，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v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为当前节点相邻的节点数，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p=(1-ki-ei)/v</a:t>
            </a:r>
          </a:p>
          <a:p>
            <a:r>
              <a:rPr lang="zh-CN" altLang="en-US" sz="2800" dirty="0">
                <a:latin typeface="楷体" pitchFamily="49" charset="-122"/>
                <a:ea typeface="楷体" pitchFamily="49" charset="-122"/>
              </a:rPr>
              <a:t>则当前点的期望</a:t>
            </a:r>
            <a:r>
              <a:rPr lang="en-US" altLang="zh-CN" sz="2800" dirty="0">
                <a:latin typeface="楷体" pitchFamily="49" charset="-122"/>
                <a:ea typeface="楷体" pitchFamily="49" charset="-122"/>
              </a:rPr>
              <a:t>=</a:t>
            </a:r>
            <a:r>
              <a:rPr lang="en-US" altLang="zh-CN" sz="2800" dirty="0" err="1">
                <a:latin typeface="楷体" pitchFamily="49" charset="-122"/>
                <a:ea typeface="楷体" pitchFamily="49" charset="-122"/>
              </a:rPr>
              <a:t>ki</a:t>
            </a:r>
            <a:r>
              <a:rPr lang="en-US" altLang="zh-CN" sz="2800" dirty="0">
                <a:latin typeface="楷体" pitchFamily="49" charset="-122"/>
                <a:ea typeface="楷体" pitchFamily="49" charset="-122"/>
              </a:rPr>
              <a:t>*</a:t>
            </a:r>
            <a:r>
              <a:rPr lang="en-US" altLang="zh-CN" sz="2800" dirty="0" err="1">
                <a:latin typeface="楷体" pitchFamily="49" charset="-122"/>
                <a:ea typeface="楷体" pitchFamily="49" charset="-122"/>
              </a:rPr>
              <a:t>x+p</a:t>
            </a:r>
            <a:r>
              <a:rPr lang="en-US" altLang="zh-CN" sz="2800" dirty="0">
                <a:latin typeface="楷体" pitchFamily="49" charset="-122"/>
                <a:ea typeface="楷体" pitchFamily="49" charset="-122"/>
              </a:rPr>
              <a:t>*(fa+1)+p*(vi+1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)…</a:t>
            </a:r>
          </a:p>
          <a:p>
            <a:r>
              <a:rPr lang="zh-CN" altLang="en-US" sz="2800" dirty="0">
                <a:latin typeface="楷体" pitchFamily="49" charset="-122"/>
                <a:ea typeface="楷体" pitchFamily="49" charset="-122"/>
              </a:rPr>
              <a:t>从叶子回溯，最后可以得到一个只有</a:t>
            </a:r>
            <a:r>
              <a:rPr lang="en-US" altLang="zh-CN" sz="2800" dirty="0"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en-US" sz="2800" dirty="0">
                <a:latin typeface="楷体" pitchFamily="49" charset="-122"/>
                <a:ea typeface="楷体" pitchFamily="49" charset="-122"/>
              </a:rPr>
              <a:t>和常数的式子，就可以求出</a:t>
            </a:r>
            <a:r>
              <a:rPr lang="en-US" altLang="zh-CN" sz="2800" dirty="0"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en-US" sz="2800" dirty="0">
                <a:latin typeface="楷体" pitchFamily="49" charset="-122"/>
                <a:ea typeface="楷体" pitchFamily="49" charset="-122"/>
              </a:rPr>
              <a:t>了。</a:t>
            </a:r>
          </a:p>
          <a:p>
            <a:endParaRPr lang="zh-CN" altLang="en-US" sz="2800" dirty="0">
              <a:latin typeface="楷体" pitchFamily="49" charset="-122"/>
              <a:ea typeface="楷体" pitchFamily="49" charset="-122"/>
            </a:endParaRPr>
          </a:p>
          <a:p>
            <a:endParaRPr lang="zh-CN" altLang="en-US" sz="2800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6448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多谢各位赏光</a:t>
            </a:r>
            <a:r>
              <a:rPr lang="en-US" altLang="zh-CN" dirty="0" smtClean="0"/>
              <a:t>~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DP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代码量一般不大，推出转移方程就能做出来</a:t>
            </a:r>
            <a:endParaRPr lang="en-US" altLang="zh-CN" sz="28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主要考想法，要多练习</a:t>
            </a:r>
            <a:endParaRPr lang="en-US" altLang="zh-CN" sz="28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专题训练链接：</a:t>
            </a:r>
            <a:r>
              <a:rPr lang="en-US" altLang="zh-CN" sz="2800" dirty="0">
                <a:latin typeface="楷体" pitchFamily="49" charset="-122"/>
                <a:ea typeface="楷体" pitchFamily="49" charset="-122"/>
                <a:hlinkClick r:id="rId2"/>
              </a:rPr>
              <a:t>http://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  <a:hlinkClick r:id="rId2"/>
              </a:rPr>
              <a:t>acm.hust.edu.cn/vjudge/toIndex.action</a:t>
            </a:r>
            <a:endParaRPr lang="en-US" altLang="zh-CN" sz="2800" dirty="0" smtClean="0">
              <a:latin typeface="楷体" pitchFamily="49" charset="-122"/>
              <a:ea typeface="楷体" pitchFamily="49" charset="-122"/>
            </a:endParaRPr>
          </a:p>
          <a:p>
            <a:endParaRPr lang="en-US" altLang="zh-CN" sz="2800" dirty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更多背包内容可以看看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《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背包九讲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》</a:t>
            </a:r>
          </a:p>
          <a:p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对插头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DP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有兴趣？可以看看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《</a:t>
            </a:r>
            <a:r>
              <a:rPr lang="zh-CN" altLang="en-US" sz="2800" dirty="0">
                <a:latin typeface="楷体" pitchFamily="49" charset="-122"/>
                <a:ea typeface="楷体" pitchFamily="49" charset="-122"/>
              </a:rPr>
              <a:t>基于连通性状态压缩的动态规划问题</a:t>
            </a:r>
            <a:r>
              <a:rPr lang="en-US" altLang="zh-CN" sz="2800" dirty="0" smtClean="0">
                <a:latin typeface="楷体" pitchFamily="49" charset="-122"/>
                <a:ea typeface="楷体" pitchFamily="49" charset="-122"/>
              </a:rPr>
              <a:t>》</a:t>
            </a:r>
            <a:endParaRPr lang="en-US" altLang="zh-CN" sz="2800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321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凤舞九天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397</TotalTime>
  <Words>1270</Words>
  <Application>Microsoft Office PowerPoint</Application>
  <PresentationFormat>全屏显示(4:3)</PresentationFormat>
  <Paragraphs>157</Paragraphs>
  <Slides>27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28" baseType="lpstr">
      <vt:lpstr>凤舞九天</vt:lpstr>
      <vt:lpstr>DP专题</vt:lpstr>
      <vt:lpstr>何为DP？</vt:lpstr>
      <vt:lpstr>经典问题：小马过河</vt:lpstr>
      <vt:lpstr>DP的常见类型</vt:lpstr>
      <vt:lpstr>普通DP</vt:lpstr>
      <vt:lpstr>HDU 4570 Multi-bit Trie</vt:lpstr>
      <vt:lpstr>变个样子</vt:lpstr>
      <vt:lpstr>又变个样子</vt:lpstr>
      <vt:lpstr>再变个样子</vt:lpstr>
      <vt:lpstr>或者这样？</vt:lpstr>
      <vt:lpstr>背包问题</vt:lpstr>
      <vt:lpstr>经典例题</vt:lpstr>
      <vt:lpstr>PowerPoint 演示文稿</vt:lpstr>
      <vt:lpstr>PowerPoint 演示文稿</vt:lpstr>
      <vt:lpstr>区间DP</vt:lpstr>
      <vt:lpstr>经典例题</vt:lpstr>
      <vt:lpstr>PowerPoint 演示文稿</vt:lpstr>
      <vt:lpstr>树状DP</vt:lpstr>
      <vt:lpstr>经典例题</vt:lpstr>
      <vt:lpstr>状压DP</vt:lpstr>
      <vt:lpstr>经典例题</vt:lpstr>
      <vt:lpstr>概率DP</vt:lpstr>
      <vt:lpstr>经典例题</vt:lpstr>
      <vt:lpstr>PowerPoint 演示文稿</vt:lpstr>
      <vt:lpstr>复杂一点的概率DP：HDU4035</vt:lpstr>
      <vt:lpstr>PowerPoint 演示文稿</vt:lpstr>
      <vt:lpstr>多谢各位赏光~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Moor</dc:creator>
  <cp:lastModifiedBy>Moor</cp:lastModifiedBy>
  <cp:revision>54</cp:revision>
  <dcterms:created xsi:type="dcterms:W3CDTF">2013-07-24T15:04:28Z</dcterms:created>
  <dcterms:modified xsi:type="dcterms:W3CDTF">2013-07-26T02:41:40Z</dcterms:modified>
</cp:coreProperties>
</file>