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6" r:id="rId17"/>
    <p:sldId id="270" r:id="rId18"/>
    <p:sldId id="271" r:id="rId19"/>
    <p:sldId id="272" r:id="rId20"/>
    <p:sldId id="273" r:id="rId21"/>
    <p:sldId id="274" r:id="rId22"/>
    <p:sldId id="277" r:id="rId23"/>
    <p:sldId id="280" r:id="rId24"/>
    <p:sldId id="281" r:id="rId25"/>
    <p:sldId id="282" r:id="rId26"/>
    <p:sldId id="279" r:id="rId2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0" autoAdjust="0"/>
  </p:normalViewPr>
  <p:slideViewPr>
    <p:cSldViewPr>
      <p:cViewPr>
        <p:scale>
          <a:sx n="60" d="100"/>
          <a:sy n="60" d="100"/>
        </p:scale>
        <p:origin x="-1656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D0A32-2FB4-42AF-9C1A-30478DDF113F}" type="datetimeFigureOut">
              <a:rPr lang="zh-CN" altLang="en-US" smtClean="0"/>
              <a:pPr/>
              <a:t>2013/7/29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0A20E-4208-42F9-B822-AA23A4C6D80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cpcarchive.ecs.baylor.edu/index.php?option=com_onlinejudge&amp;Itemid=8&amp;page=show_problem&amp;problem=4210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acm.hust.edu.cn/vjudge/contest/view.action?cid=27385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908720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1628800"/>
            <a:ext cx="58326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latin typeface="Adobe 楷体 Std R" pitchFamily="18" charset="-122"/>
                <a:ea typeface="Adobe 楷体 Std R" pitchFamily="18" charset="-122"/>
              </a:rPr>
              <a:t>图论专题</a:t>
            </a:r>
            <a:endParaRPr lang="zh-CN" altLang="en-US" sz="8800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96136" y="4653136"/>
            <a:ext cx="2088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Adobe 楷体 Std R" pitchFamily="18" charset="-122"/>
                <a:ea typeface="Adobe 楷体 Std R" pitchFamily="18" charset="-122"/>
              </a:rPr>
              <a:t>何哲琪</a:t>
            </a:r>
            <a:endParaRPr lang="zh-CN" altLang="en-US" sz="4000" dirty="0">
              <a:latin typeface="Adobe 楷体 Std R" pitchFamily="18" charset="-122"/>
              <a:ea typeface="Adobe 楷体 Std R" pitchFamily="18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图的定义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1988840"/>
            <a:ext cx="7416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j-ea"/>
                <a:ea typeface="+mj-ea"/>
              </a:rPr>
              <a:t>图是由顶点集</a:t>
            </a:r>
            <a:r>
              <a:rPr lang="en-US" altLang="zh-CN" sz="3200" dirty="0">
                <a:latin typeface="+mj-ea"/>
                <a:ea typeface="+mj-ea"/>
              </a:rPr>
              <a:t>V</a:t>
            </a:r>
            <a:r>
              <a:rPr lang="zh-CN" altLang="en-US" sz="3200" dirty="0">
                <a:latin typeface="+mj-ea"/>
                <a:ea typeface="+mj-ea"/>
              </a:rPr>
              <a:t>和顶点间的关系集合</a:t>
            </a:r>
            <a:r>
              <a:rPr lang="en-US" altLang="zh-CN" sz="3200" dirty="0">
                <a:latin typeface="+mj-ea"/>
                <a:ea typeface="+mj-ea"/>
              </a:rPr>
              <a:t>E</a:t>
            </a:r>
            <a:r>
              <a:rPr lang="zh-CN" altLang="en-US" sz="3200" dirty="0">
                <a:latin typeface="+mj-ea"/>
                <a:ea typeface="+mj-ea"/>
              </a:rPr>
              <a:t>（边的集合）组成的一种数据结构，可以用二元组定义为：</a:t>
            </a:r>
            <a:r>
              <a:rPr lang="en-US" altLang="zh-CN" sz="3200" dirty="0">
                <a:latin typeface="+mj-ea"/>
                <a:ea typeface="+mj-ea"/>
              </a:rPr>
              <a:t>G=</a:t>
            </a:r>
            <a:r>
              <a:rPr lang="zh-CN" altLang="en-US" sz="3200" dirty="0">
                <a:latin typeface="+mj-ea"/>
                <a:ea typeface="+mj-ea"/>
              </a:rPr>
              <a:t>（</a:t>
            </a:r>
            <a:r>
              <a:rPr lang="en-US" altLang="zh-CN" sz="3200" dirty="0">
                <a:latin typeface="+mj-ea"/>
                <a:ea typeface="+mj-ea"/>
              </a:rPr>
              <a:t>V,E</a:t>
            </a:r>
            <a:r>
              <a:rPr lang="zh-CN" altLang="en-US" sz="3200" dirty="0">
                <a:latin typeface="+mj-ea"/>
                <a:ea typeface="+mj-ea"/>
              </a:rPr>
              <a:t>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常见问题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1124745"/>
            <a:ext cx="410445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最小生成树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最短路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拓扑排序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连通性问题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/>
              <a:t>欧</a:t>
            </a:r>
            <a:r>
              <a:rPr lang="zh-CN" altLang="en-US" sz="3200" dirty="0" smtClean="0"/>
              <a:t>拉回路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最近公共祖先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网络流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en-US" altLang="zh-C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6210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最小生成树</a:t>
            </a: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/>
            </a:r>
            <a:b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</a:b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MST (minimum spanning tree)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576" y="2276872"/>
            <a:ext cx="3816424" cy="235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主要的算法：</a:t>
            </a:r>
            <a:endParaRPr lang="en-US" altLang="zh-CN" sz="32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CN" sz="3200" kern="0" dirty="0"/>
              <a:t>Prim</a:t>
            </a:r>
            <a:r>
              <a:rPr lang="zh-CN" altLang="en-US" sz="3200" kern="0" dirty="0" smtClean="0"/>
              <a:t>算法</a:t>
            </a:r>
            <a:endParaRPr lang="en-US" altLang="zh-CN" sz="3200" kern="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altLang="zh-CN" sz="3200" kern="0" dirty="0" err="1" smtClean="0"/>
              <a:t>Kruskal</a:t>
            </a:r>
            <a:r>
              <a:rPr lang="zh-CN" altLang="en-US" sz="3200" kern="0" dirty="0" smtClean="0"/>
              <a:t>算法</a:t>
            </a:r>
            <a:endParaRPr lang="en-US" altLang="zh-CN" sz="3200" dirty="0" smtClean="0"/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sz="3200" kern="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771800" y="4941168"/>
            <a:ext cx="51125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都是基于贪心的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Prim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1484784"/>
            <a:ext cx="799288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算法过程</a:t>
            </a:r>
            <a:endParaRPr lang="en-US" altLang="zh-CN" sz="3200" dirty="0"/>
          </a:p>
          <a:p>
            <a:pPr lvl="1"/>
            <a:r>
              <a:rPr lang="zh-CN" altLang="en-US" sz="3200" dirty="0" smtClean="0"/>
              <a:t>从单一顶点的树</a:t>
            </a:r>
            <a:r>
              <a:rPr lang="en-US" altLang="zh-CN" sz="3200" dirty="0" smtClean="0"/>
              <a:t>T</a:t>
            </a:r>
            <a:r>
              <a:rPr lang="zh-CN" altLang="en-US" sz="3200" dirty="0" smtClean="0"/>
              <a:t>开始不断加入</a:t>
            </a:r>
            <a:r>
              <a:rPr lang="zh-CN" altLang="en-US" sz="3200" dirty="0" smtClean="0">
                <a:solidFill>
                  <a:srgbClr val="FF0000"/>
                </a:solidFill>
              </a:rPr>
              <a:t>耗费最小</a:t>
            </a:r>
            <a:r>
              <a:rPr lang="zh-CN" altLang="en-US" sz="3200" dirty="0"/>
              <a:t>的</a:t>
            </a:r>
            <a:r>
              <a:rPr lang="zh-CN" altLang="en-US" sz="3200" dirty="0" smtClean="0"/>
              <a:t>边</a:t>
            </a:r>
            <a:r>
              <a:rPr lang="en-US" altLang="zh-CN" sz="3200" dirty="0" smtClean="0"/>
              <a:t>(u, v)</a:t>
            </a:r>
            <a:r>
              <a:rPr lang="zh-CN" altLang="en-US" sz="3200" dirty="0" smtClean="0"/>
              <a:t>，使</a:t>
            </a:r>
            <a:r>
              <a:rPr lang="en-US" altLang="zh-CN" sz="3200" dirty="0" smtClean="0"/>
              <a:t>T</a:t>
            </a:r>
            <a:r>
              <a:rPr lang="en-US" altLang="zh-CN" sz="3200" dirty="0" smtClean="0">
                <a:latin typeface="宋体" charset="-122"/>
              </a:rPr>
              <a:t>∪</a:t>
            </a:r>
            <a:r>
              <a:rPr lang="en-US" altLang="zh-CN" sz="3200" dirty="0" smtClean="0"/>
              <a:t>{(u, v)}</a:t>
            </a:r>
            <a:r>
              <a:rPr lang="zh-CN" altLang="en-US" sz="3200" dirty="0" smtClean="0"/>
              <a:t>仍为树，直到所有顶点都被加入</a:t>
            </a:r>
            <a:endParaRPr lang="en-US" altLang="zh-CN" sz="3200" dirty="0" smtClean="0"/>
          </a:p>
          <a:p>
            <a:pPr marL="0"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</a:t>
            </a:r>
            <a:r>
              <a:rPr lang="en-US" altLang="zh-CN" sz="3200" dirty="0" smtClean="0"/>
              <a:t> O(n^2)</a:t>
            </a:r>
          </a:p>
          <a:p>
            <a:pPr marL="0"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常用于稠密图</a:t>
            </a:r>
            <a:endParaRPr lang="en-US" altLang="zh-CN" sz="3200" dirty="0" smtClean="0"/>
          </a:p>
          <a:p>
            <a:endParaRPr lang="zh-CN" altLang="en-US" sz="3200" dirty="0" smtClean="0"/>
          </a:p>
          <a:p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>
                <a:latin typeface="Adobe 楷体 Std R" pitchFamily="18" charset="-122"/>
                <a:ea typeface="Adobe 楷体 Std R" pitchFamily="18" charset="-122"/>
              </a:rPr>
              <a:t>Kruskal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7584" y="1916832"/>
            <a:ext cx="70567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算法过程</a:t>
            </a:r>
            <a:endParaRPr lang="en-US" altLang="zh-CN" sz="3200" dirty="0" smtClean="0"/>
          </a:p>
          <a:p>
            <a:pPr lvl="1"/>
            <a:r>
              <a:rPr lang="zh-CN" altLang="en-US" sz="3200" dirty="0" smtClean="0"/>
              <a:t>每次选择最短且不成环的边加入，重复</a:t>
            </a:r>
            <a:r>
              <a:rPr lang="en-US" altLang="zh-CN" sz="3200" dirty="0" smtClean="0"/>
              <a:t>n-1</a:t>
            </a:r>
            <a:r>
              <a:rPr lang="zh-CN" altLang="en-US" sz="3200" dirty="0" smtClean="0"/>
              <a:t>次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   </a:t>
            </a:r>
            <a:r>
              <a:rPr lang="en-US" altLang="zh-CN" sz="3200" dirty="0" smtClean="0"/>
              <a:t>O(</a:t>
            </a:r>
            <a:r>
              <a:rPr lang="en-US" altLang="zh-CN" sz="3200" dirty="0" err="1" smtClean="0"/>
              <a:t>ElgE</a:t>
            </a:r>
            <a:r>
              <a:rPr lang="en-US" altLang="zh-CN" sz="3200" dirty="0" smtClean="0"/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常用于稀疏图</a:t>
            </a:r>
            <a:endParaRPr lang="en-US" altLang="zh-CN" sz="3200" dirty="0" smtClean="0"/>
          </a:p>
          <a:p>
            <a:endParaRPr lang="en-US" altLang="zh-CN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看一个题目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1484784"/>
            <a:ext cx="82089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 err="1">
                <a:hlinkClick r:id="rId2"/>
              </a:rPr>
              <a:t>UVALive</a:t>
            </a:r>
            <a:r>
              <a:rPr lang="en-US" altLang="zh-CN" sz="3200" dirty="0">
                <a:hlinkClick r:id="rId2"/>
              </a:rPr>
              <a:t> </a:t>
            </a:r>
            <a:r>
              <a:rPr lang="en-US" altLang="zh-CN" sz="3200" dirty="0" smtClean="0">
                <a:hlinkClick r:id="rId2"/>
              </a:rPr>
              <a:t>6199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给定平面上的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个点的坐标</a:t>
            </a:r>
            <a:r>
              <a:rPr lang="en-US" altLang="zh-CN" sz="3200" dirty="0" smtClean="0"/>
              <a:t>(</a:t>
            </a:r>
            <a:r>
              <a:rPr lang="en-US" altLang="zh-CN" sz="3200" dirty="0" err="1" smtClean="0"/>
              <a:t>x,y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，要在点之间传递信息，信息只能从</a:t>
            </a:r>
            <a:r>
              <a:rPr lang="en-US" altLang="zh-CN" sz="3200" dirty="0" smtClean="0"/>
              <a:t>y</a:t>
            </a:r>
            <a:r>
              <a:rPr lang="zh-CN" altLang="en-US" sz="3200" dirty="0" smtClean="0"/>
              <a:t>值小的传到</a:t>
            </a:r>
            <a:r>
              <a:rPr lang="en-US" altLang="zh-CN" sz="3200" dirty="0" smtClean="0"/>
              <a:t>y</a:t>
            </a:r>
            <a:r>
              <a:rPr lang="zh-CN" altLang="en-US" sz="3200" dirty="0" smtClean="0"/>
              <a:t>大的</a:t>
            </a:r>
            <a:r>
              <a:rPr lang="en-US" altLang="zh-CN" sz="3200" dirty="0" smtClean="0"/>
              <a:t>(y</a:t>
            </a:r>
            <a:r>
              <a:rPr lang="zh-CN" altLang="en-US" sz="3200" dirty="0" smtClean="0"/>
              <a:t>相同的之间可以互相传递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。问至少需要长度为多少的电线可以使得所有点都获得信息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看上去和最小生成树很像 ，但是</a:t>
            </a:r>
            <a:r>
              <a:rPr lang="en-US" altLang="zh-CN" sz="3200" dirty="0" smtClean="0"/>
              <a:t>……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一些变形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5616" y="1988840"/>
            <a:ext cx="60486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次小生成树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最小树形图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en-US" altLang="zh-CN" sz="3200" dirty="0" smtClean="0"/>
              <a:t>K</a:t>
            </a:r>
            <a:r>
              <a:rPr lang="zh-CN" altLang="en-US" sz="3200" dirty="0" smtClean="0"/>
              <a:t>度最小生成树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最短路</a:t>
            </a: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/>
            </a:r>
            <a:b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</a:br>
            <a:r>
              <a:rPr lang="en-US" altLang="zh-CN" b="1" dirty="0" smtClean="0">
                <a:latin typeface="Adobe 楷体 Std R" pitchFamily="18" charset="-122"/>
                <a:ea typeface="Adobe 楷体 Std R" pitchFamily="18" charset="-122"/>
              </a:rPr>
              <a:t> Shortest Path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556792"/>
            <a:ext cx="7344816" cy="3695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 smtClean="0"/>
              <a:t>常用算法：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Dijkstra</a:t>
            </a:r>
            <a:r>
              <a:rPr lang="zh-CN" altLang="en-US" sz="3200" dirty="0" smtClean="0"/>
              <a:t>算法 （单源最短路径）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Floyd</a:t>
            </a:r>
            <a:r>
              <a:rPr lang="zh-CN" altLang="en-US" sz="3200" dirty="0" smtClean="0"/>
              <a:t>算法（任意两点间）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SPFA</a:t>
            </a:r>
            <a:r>
              <a:rPr lang="zh-CN" altLang="en-US" sz="3200" dirty="0" smtClean="0"/>
              <a:t>算法（单源最短路径）</a:t>
            </a:r>
          </a:p>
          <a:p>
            <a:pPr>
              <a:lnSpc>
                <a:spcPct val="150000"/>
              </a:lnSpc>
            </a:pP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Dijkstra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700808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1340768"/>
            <a:ext cx="770485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算法过程</a:t>
            </a:r>
            <a:endParaRPr lang="en-US" altLang="zh-CN" sz="3200" dirty="0" smtClean="0"/>
          </a:p>
          <a:p>
            <a:pPr marL="0" lvl="1">
              <a:lnSpc>
                <a:spcPct val="150000"/>
              </a:lnSpc>
            </a:pPr>
            <a:r>
              <a:rPr lang="zh-CN" altLang="en-US" sz="3200" dirty="0" smtClean="0"/>
              <a:t>和</a:t>
            </a:r>
            <a:r>
              <a:rPr lang="en-US" altLang="zh-CN" sz="3200" dirty="0" smtClean="0"/>
              <a:t>Prim</a:t>
            </a:r>
            <a:r>
              <a:rPr lang="zh-CN" altLang="en-US" sz="3200" dirty="0" smtClean="0"/>
              <a:t>非常相似，但要用一个数组记录从起点到当前点的最短距离。但不能有负环。</a:t>
            </a:r>
            <a:endParaRPr lang="en-US" altLang="zh-CN" sz="3200" dirty="0" smtClean="0"/>
          </a:p>
          <a:p>
            <a:pPr marL="0"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</a:t>
            </a:r>
            <a:r>
              <a:rPr lang="en-US" altLang="zh-CN" sz="3200" dirty="0" smtClean="0"/>
              <a:t> O(n^2)   heap</a:t>
            </a:r>
            <a:r>
              <a:rPr lang="zh-CN" altLang="en-US" sz="3200" dirty="0" smtClean="0"/>
              <a:t>优化后</a:t>
            </a:r>
            <a:r>
              <a:rPr lang="en-US" altLang="zh-CN" sz="3200" dirty="0" smtClean="0"/>
              <a:t>O(</a:t>
            </a:r>
            <a:r>
              <a:rPr lang="en-US" altLang="zh-CN" sz="3200" dirty="0" err="1" smtClean="0"/>
              <a:t>elgn</a:t>
            </a:r>
            <a:r>
              <a:rPr lang="en-US" altLang="zh-CN" sz="3200" dirty="0" smtClean="0"/>
              <a:t>)</a:t>
            </a:r>
          </a:p>
          <a:p>
            <a:pPr marL="0"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常用于稠密图</a:t>
            </a:r>
            <a:endParaRPr lang="en-US" altLang="zh-CN" sz="3200" dirty="0" smtClean="0"/>
          </a:p>
          <a:p>
            <a:endParaRPr lang="zh-CN" altLang="en-US" sz="3200" dirty="0" smtClean="0"/>
          </a:p>
          <a:p>
            <a:endParaRPr lang="zh-CN" altLang="en-US" sz="3200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Floyd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772816"/>
            <a:ext cx="784887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算法过程</a:t>
            </a:r>
            <a:endParaRPr lang="en-US" altLang="zh-CN" sz="3200" dirty="0" smtClean="0"/>
          </a:p>
          <a:p>
            <a:pPr marL="0" lvl="1">
              <a:lnSpc>
                <a:spcPct val="150000"/>
              </a:lnSpc>
            </a:pPr>
            <a:r>
              <a:rPr lang="en-US" altLang="zh-CN" sz="3200" dirty="0" smtClean="0"/>
              <a:t>dist[</a:t>
            </a:r>
            <a:r>
              <a:rPr lang="en-US" altLang="zh-CN" sz="3200" dirty="0" err="1" smtClean="0"/>
              <a:t>i</a:t>
            </a:r>
            <a:r>
              <a:rPr lang="en-US" altLang="zh-CN" sz="3200" dirty="0" smtClean="0"/>
              <a:t>][j] = min(dist[</a:t>
            </a:r>
            <a:r>
              <a:rPr lang="en-US" altLang="zh-CN" sz="3200" dirty="0" err="1" smtClean="0"/>
              <a:t>i</a:t>
            </a:r>
            <a:r>
              <a:rPr lang="en-US" altLang="zh-CN" sz="3200" dirty="0" smtClean="0"/>
              <a:t>][j],dist[</a:t>
            </a:r>
            <a:r>
              <a:rPr lang="en-US" altLang="zh-CN" sz="3200" dirty="0" err="1" smtClean="0"/>
              <a:t>i</a:t>
            </a:r>
            <a:r>
              <a:rPr lang="en-US" altLang="zh-CN" sz="3200" dirty="0" smtClean="0"/>
              <a:t>][k]+dist[k][j])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pPr marL="0"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</a:t>
            </a:r>
            <a:r>
              <a:rPr lang="en-US" altLang="zh-CN" sz="3200" dirty="0" smtClean="0"/>
              <a:t> O(n^3)</a:t>
            </a:r>
          </a:p>
          <a:p>
            <a:pPr marL="0"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适用于点少的图，通常为辅助工具</a:t>
            </a:r>
            <a:endParaRPr lang="en-US" altLang="zh-CN" sz="3200" dirty="0" smtClean="0"/>
          </a:p>
          <a:p>
            <a:endParaRPr lang="zh-CN" altLang="en-US" sz="3200" dirty="0" smtClean="0"/>
          </a:p>
          <a:p>
            <a:endParaRPr lang="zh-CN" altLang="en-US" sz="3200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SPFA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052737"/>
            <a:ext cx="889248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算法过程</a:t>
            </a:r>
            <a:endParaRPr lang="en-US" altLang="zh-CN" sz="3200" dirty="0" smtClean="0"/>
          </a:p>
          <a:p>
            <a:pPr marL="0" lvl="1"/>
            <a:r>
              <a:rPr lang="zh-CN" altLang="en-US" sz="3200" dirty="0" smtClean="0"/>
              <a:t>维护一个队列，里面存放所有需要进行迭代的点。初始时队列中只有起点</a:t>
            </a:r>
            <a:r>
              <a:rPr lang="en-US" altLang="zh-CN" sz="3200" dirty="0" smtClean="0"/>
              <a:t>s</a:t>
            </a:r>
            <a:r>
              <a:rPr lang="zh-CN" altLang="en-US" sz="3200" dirty="0" smtClean="0"/>
              <a:t>。对于队列中的元素要进行标记。每次迭代，取队首</a:t>
            </a:r>
            <a:r>
              <a:rPr lang="en-US" altLang="zh-CN" sz="3200" dirty="0"/>
              <a:t>u</a:t>
            </a:r>
            <a:r>
              <a:rPr lang="zh-CN" altLang="en-US" sz="3200" dirty="0" smtClean="0"/>
              <a:t>，枚举</a:t>
            </a:r>
            <a:r>
              <a:rPr lang="en-US" altLang="zh-CN" sz="3200" dirty="0" smtClean="0"/>
              <a:t>u-&gt;</a:t>
            </a:r>
            <a:r>
              <a:rPr lang="en-US" altLang="zh-CN" sz="3200" dirty="0"/>
              <a:t>v</a:t>
            </a:r>
            <a:r>
              <a:rPr lang="zh-CN" altLang="en-US" sz="3200" dirty="0" smtClean="0"/>
              <a:t>，判断</a:t>
            </a:r>
            <a:r>
              <a:rPr lang="en-US" altLang="zh-CN" sz="3200" dirty="0" smtClean="0"/>
              <a:t>Dist[u]+w</a:t>
            </a:r>
            <a:r>
              <a:rPr lang="zh-CN" altLang="en-US" sz="3200" dirty="0" smtClean="0"/>
              <a:t>是否</a:t>
            </a:r>
            <a:r>
              <a:rPr lang="en-US" altLang="zh-CN" sz="3200" dirty="0"/>
              <a:t>&lt;</a:t>
            </a:r>
            <a:r>
              <a:rPr lang="en-US" altLang="zh-CN" sz="3200" dirty="0" smtClean="0"/>
              <a:t>Dist[v]</a:t>
            </a:r>
            <a:r>
              <a:rPr lang="zh-CN" altLang="en-US" sz="3200" dirty="0" smtClean="0"/>
              <a:t>，若小于则</a:t>
            </a:r>
            <a:r>
              <a:rPr lang="zh-CN" altLang="en-US" sz="3200" dirty="0"/>
              <a:t>更新</a:t>
            </a:r>
            <a:r>
              <a:rPr lang="en-US" altLang="zh-CN" sz="3200" dirty="0" smtClean="0"/>
              <a:t>Dist[v]</a:t>
            </a:r>
            <a:r>
              <a:rPr lang="zh-CN" altLang="en-US" sz="3200" dirty="0" smtClean="0"/>
              <a:t>，并且由于</a:t>
            </a:r>
            <a:r>
              <a:rPr lang="en-US" altLang="zh-CN" sz="3200" dirty="0"/>
              <a:t>s</a:t>
            </a:r>
            <a:r>
              <a:rPr lang="zh-CN" altLang="en-US" sz="3200" dirty="0" smtClean="0"/>
              <a:t>到</a:t>
            </a:r>
            <a:r>
              <a:rPr lang="en-US" altLang="zh-CN" sz="3200" dirty="0"/>
              <a:t>v</a:t>
            </a:r>
            <a:r>
              <a:rPr lang="zh-CN" altLang="en-US" sz="3200" dirty="0" smtClean="0"/>
              <a:t>的距离变小了，</a:t>
            </a:r>
            <a:r>
              <a:rPr lang="en-US" altLang="zh-CN" sz="3200" dirty="0" smtClean="0"/>
              <a:t>u</a:t>
            </a:r>
            <a:r>
              <a:rPr lang="zh-CN" altLang="en-US" sz="3200" dirty="0" smtClean="0"/>
              <a:t>可能更新其它的点，所以若</a:t>
            </a:r>
            <a:r>
              <a:rPr lang="en-US" altLang="zh-CN" sz="3200" dirty="0" smtClean="0"/>
              <a:t>u</a:t>
            </a:r>
            <a:r>
              <a:rPr lang="zh-CN" altLang="en-US" sz="3200" dirty="0" smtClean="0"/>
              <a:t>不在队列中，就将它放入队尾。当队列为空，说明</a:t>
            </a:r>
            <a:r>
              <a:rPr lang="en-US" altLang="zh-CN" sz="3200" dirty="0"/>
              <a:t>s</a:t>
            </a:r>
            <a:r>
              <a:rPr lang="zh-CN" altLang="en-US" sz="3200" dirty="0" smtClean="0"/>
              <a:t>到所有的最短距离都确定了，结束算法。若一个点入队次数超过</a:t>
            </a:r>
            <a:r>
              <a:rPr lang="en-US" altLang="zh-CN" sz="3200" dirty="0" smtClean="0"/>
              <a:t>n</a:t>
            </a:r>
            <a:r>
              <a:rPr lang="zh-CN" altLang="en-US" sz="3200" dirty="0" smtClean="0"/>
              <a:t>，则有负权环。</a:t>
            </a:r>
            <a:endParaRPr lang="en-US" altLang="zh-CN" sz="3200" dirty="0" smtClean="0"/>
          </a:p>
          <a:p>
            <a:pPr marL="0" lvl="1">
              <a:buFont typeface="Wingdings" pitchFamily="2" charset="2"/>
              <a:buChar char="Ø"/>
            </a:pPr>
            <a:r>
              <a:rPr lang="zh-CN" altLang="en-US" sz="3200" dirty="0" smtClean="0"/>
              <a:t>期望时间复杂度</a:t>
            </a:r>
            <a:r>
              <a:rPr lang="en-US" altLang="zh-CN" sz="3200" dirty="0" smtClean="0"/>
              <a:t> O(k*e) </a:t>
            </a:r>
            <a:r>
              <a:rPr lang="zh-CN" altLang="en-US" sz="3200" dirty="0" smtClean="0"/>
              <a:t>一般情况下</a:t>
            </a:r>
            <a:r>
              <a:rPr lang="en-US" altLang="zh-CN" sz="3200" dirty="0" smtClean="0"/>
              <a:t>k=2</a:t>
            </a:r>
          </a:p>
          <a:p>
            <a:endParaRPr lang="zh-CN" altLang="en-US" sz="3200" dirty="0" smtClean="0"/>
          </a:p>
          <a:p>
            <a:endParaRPr lang="zh-CN" altLang="en-US" sz="3200" dirty="0" smtClean="0"/>
          </a:p>
          <a:p>
            <a:endParaRPr lang="zh-CN" altLang="en-US" sz="3200" dirty="0" smtClean="0"/>
          </a:p>
          <a:p>
            <a:endParaRPr lang="zh-CN" altLang="en-US" sz="3200" dirty="0" smtClean="0"/>
          </a:p>
          <a:p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latin typeface="Adobe 楷体 Std R" pitchFamily="18" charset="-122"/>
                <a:ea typeface="Adobe 楷体 Std R" pitchFamily="18" charset="-122"/>
              </a:rPr>
              <a:t>UVALive</a:t>
            </a: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 5862 City Travel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1628800"/>
            <a:ext cx="76328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题意：给</a:t>
            </a:r>
            <a:r>
              <a:rPr lang="en-US" altLang="zh-CN" sz="3200" dirty="0"/>
              <a:t>n</a:t>
            </a:r>
            <a:r>
              <a:rPr lang="zh-CN" altLang="en-US" sz="3200" dirty="0"/>
              <a:t>个点</a:t>
            </a:r>
            <a:r>
              <a:rPr lang="en-US" altLang="zh-CN" sz="3200" dirty="0"/>
              <a:t>m</a:t>
            </a:r>
            <a:r>
              <a:rPr lang="zh-CN" altLang="en-US" sz="3200" dirty="0"/>
              <a:t>条边的图，每条边有</a:t>
            </a:r>
            <a:r>
              <a:rPr lang="zh-CN" altLang="en-US" sz="3200" dirty="0" smtClean="0"/>
              <a:t>等级和权值，</a:t>
            </a:r>
            <a:r>
              <a:rPr lang="zh-CN" altLang="en-US" sz="3200" dirty="0"/>
              <a:t>不能连续走两条等级相同的边，求</a:t>
            </a:r>
            <a:r>
              <a:rPr lang="en-US" altLang="zh-CN" sz="3200" dirty="0"/>
              <a:t>s</a:t>
            </a:r>
            <a:r>
              <a:rPr lang="zh-CN" altLang="en-US" sz="3200" dirty="0"/>
              <a:t>到</a:t>
            </a:r>
            <a:r>
              <a:rPr lang="en-US" altLang="zh-CN" sz="3200" dirty="0"/>
              <a:t>t</a:t>
            </a:r>
            <a:r>
              <a:rPr lang="zh-CN" altLang="en-US" sz="3200" dirty="0"/>
              <a:t>的最短路</a:t>
            </a:r>
            <a:r>
              <a:rPr lang="zh-CN" altLang="en-US" sz="3200" dirty="0" smtClean="0"/>
              <a:t>。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解法：</a:t>
            </a:r>
            <a:r>
              <a:rPr lang="zh-CN" altLang="en-US" sz="3200" dirty="0"/>
              <a:t>最短路的变形，用二维的</a:t>
            </a:r>
            <a:r>
              <a:rPr lang="en-US" altLang="zh-CN" sz="3200" dirty="0" err="1"/>
              <a:t>spfa</a:t>
            </a:r>
            <a:r>
              <a:rPr lang="zh-CN" altLang="en-US" sz="3200" dirty="0"/>
              <a:t>，</a:t>
            </a:r>
            <a:r>
              <a:rPr lang="en-US" altLang="zh-CN" sz="3200" dirty="0"/>
              <a:t>dist[</a:t>
            </a:r>
            <a:r>
              <a:rPr lang="en-US" altLang="zh-CN" sz="3200" dirty="0" err="1"/>
              <a:t>i</a:t>
            </a:r>
            <a:r>
              <a:rPr lang="en-US" altLang="zh-CN" sz="3200" dirty="0"/>
              <a:t>][j]</a:t>
            </a:r>
            <a:r>
              <a:rPr lang="zh-CN" altLang="en-US" sz="3200" dirty="0"/>
              <a:t>表示经过等级为</a:t>
            </a:r>
            <a:r>
              <a:rPr lang="en-US" altLang="zh-CN" sz="3200" dirty="0"/>
              <a:t>j</a:t>
            </a:r>
            <a:r>
              <a:rPr lang="zh-CN" altLang="en-US" sz="3200" dirty="0"/>
              <a:t>的边到点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的最短路。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另一些最短路变形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772816"/>
            <a:ext cx="7128792" cy="1474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双关键字的最短路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K</a:t>
            </a:r>
            <a:r>
              <a:rPr lang="zh-CN" altLang="en-US" sz="3200" dirty="0" smtClean="0"/>
              <a:t>短路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拓扑排序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980728"/>
            <a:ext cx="8424936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适用范围：有向图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作用：判断是否有环，无环可输出拓扑序列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算法过程：</a:t>
            </a:r>
            <a:endParaRPr lang="en-US" altLang="zh-CN" sz="3200" dirty="0" smtClean="0"/>
          </a:p>
          <a:p>
            <a:pPr lvl="1">
              <a:lnSpc>
                <a:spcPct val="150000"/>
              </a:lnSpc>
            </a:pPr>
            <a:r>
              <a:rPr lang="en-US" altLang="zh-CN" sz="3200" dirty="0" smtClean="0"/>
              <a:t>1.</a:t>
            </a:r>
            <a:r>
              <a:rPr lang="zh-CN" altLang="en-US" sz="3200" dirty="0" smtClean="0"/>
              <a:t>选出一个入度为</a:t>
            </a:r>
            <a:r>
              <a:rPr lang="en-US" altLang="zh-CN" sz="3200" dirty="0" smtClean="0"/>
              <a:t>0</a:t>
            </a:r>
            <a:r>
              <a:rPr lang="zh-CN" altLang="en-US" sz="3200" dirty="0" smtClean="0"/>
              <a:t>的点</a:t>
            </a:r>
            <a:endParaRPr lang="en-US" altLang="zh-CN" sz="3200" dirty="0" smtClean="0"/>
          </a:p>
          <a:p>
            <a:pPr lvl="1"/>
            <a:r>
              <a:rPr lang="en-US" altLang="zh-CN" sz="3200" dirty="0" smtClean="0"/>
              <a:t>2.</a:t>
            </a:r>
            <a:r>
              <a:rPr lang="zh-CN" altLang="en-US" sz="3200" dirty="0" smtClean="0"/>
              <a:t>删除以其为顶点的所有边，并修改与其相连的点的度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 ：</a:t>
            </a:r>
            <a:r>
              <a:rPr lang="en-US" altLang="zh-CN" sz="3200" dirty="0" smtClean="0"/>
              <a:t>O(</a:t>
            </a:r>
            <a:r>
              <a:rPr lang="en-US" altLang="zh-CN" sz="3200" dirty="0" err="1" smtClean="0"/>
              <a:t>n+e</a:t>
            </a:r>
            <a:r>
              <a:rPr lang="en-US" altLang="zh-CN" sz="3200" dirty="0" smtClean="0"/>
              <a:t>)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endParaRPr lang="en-US" altLang="zh-CN" sz="3200" dirty="0" smtClean="0"/>
          </a:p>
          <a:p>
            <a:pPr>
              <a:lnSpc>
                <a:spcPct val="150000"/>
              </a:lnSpc>
            </a:pPr>
            <a:endParaRPr lang="en-US" altLang="zh-CN" sz="3200" dirty="0" smtClean="0"/>
          </a:p>
          <a:p>
            <a:pPr>
              <a:lnSpc>
                <a:spcPct val="150000"/>
              </a:lnSpc>
            </a:pP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POJ 3249 Test for Job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772816"/>
            <a:ext cx="76328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题意：给一个有向图，每一个节点有权值，找一条从一个入度为</a:t>
            </a:r>
            <a:r>
              <a:rPr lang="en-US" altLang="zh-CN" sz="3200" dirty="0" smtClean="0"/>
              <a:t>0 </a:t>
            </a:r>
            <a:r>
              <a:rPr lang="zh-CN" altLang="en-US" sz="3200" dirty="0" smtClean="0"/>
              <a:t>到一个出度为</a:t>
            </a:r>
            <a:r>
              <a:rPr lang="en-US" altLang="zh-CN" sz="3200" dirty="0" smtClean="0"/>
              <a:t>0</a:t>
            </a:r>
            <a:r>
              <a:rPr lang="zh-CN" altLang="en-US" sz="3200" dirty="0" smtClean="0"/>
              <a:t>的路径，使权值之和最大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解法：拓扑排序</a:t>
            </a:r>
            <a:r>
              <a:rPr lang="en-US" altLang="zh-CN" sz="3200" dirty="0" smtClean="0"/>
              <a:t>+</a:t>
            </a:r>
            <a:r>
              <a:rPr lang="zh-CN" altLang="en-US" sz="3200" dirty="0" smtClean="0"/>
              <a:t>简单</a:t>
            </a:r>
            <a:r>
              <a:rPr lang="en-US" altLang="zh-CN" sz="3200" dirty="0" err="1" smtClean="0"/>
              <a:t>dp</a:t>
            </a:r>
            <a:endParaRPr lang="en-US" altLang="zh-CN" sz="3200" dirty="0" smtClean="0"/>
          </a:p>
          <a:p>
            <a:r>
              <a:rPr lang="en-US" altLang="zh-CN" sz="3200" dirty="0" smtClean="0"/>
              <a:t>	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[v]=max(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[v],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[u]+w[v]);</a:t>
            </a:r>
          </a:p>
          <a:p>
            <a:r>
              <a:rPr lang="en-US" altLang="zh-CN" sz="3200" dirty="0" smtClean="0"/>
              <a:t>	</a:t>
            </a:r>
            <a:r>
              <a:rPr lang="en-US" altLang="zh-CN" sz="3200" dirty="0" err="1" smtClean="0"/>
              <a:t>dp</a:t>
            </a:r>
            <a:r>
              <a:rPr lang="en-US" altLang="zh-CN" sz="3200" dirty="0" smtClean="0"/>
              <a:t>[v]</a:t>
            </a:r>
            <a:r>
              <a:rPr lang="zh-CN" altLang="en-US" sz="3200" dirty="0" smtClean="0"/>
              <a:t>表示从起点到</a:t>
            </a:r>
            <a:r>
              <a:rPr lang="en-US" altLang="zh-CN" sz="3200" dirty="0" err="1" smtClean="0"/>
              <a:t>i</a:t>
            </a:r>
            <a:r>
              <a:rPr lang="zh-CN" altLang="en-US" sz="3200" dirty="0" smtClean="0"/>
              <a:t>的最大权值  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强连通分量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5616" y="1628800"/>
            <a:ext cx="69847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/>
              <a:t>强连通</a:t>
            </a:r>
            <a:r>
              <a:rPr lang="zh-CN" altLang="en-US" sz="3200" dirty="0" smtClean="0"/>
              <a:t>图：任意</a:t>
            </a:r>
            <a:r>
              <a:rPr lang="zh-CN" altLang="en-US" sz="3200" dirty="0"/>
              <a:t>两个</a:t>
            </a:r>
            <a:r>
              <a:rPr lang="zh-CN" altLang="en-US" sz="3200" dirty="0" smtClean="0"/>
              <a:t>点可以相互到达的有向图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/>
              <a:t>强连通</a:t>
            </a:r>
            <a:r>
              <a:rPr lang="zh-CN" altLang="en-US" sz="3200" dirty="0" smtClean="0"/>
              <a:t>分量：在</a:t>
            </a:r>
            <a:r>
              <a:rPr lang="zh-CN" altLang="en-US" sz="3200" dirty="0"/>
              <a:t>一个非强连通图中极大的强连通</a:t>
            </a:r>
            <a:r>
              <a:rPr lang="zh-CN" altLang="en-US" sz="3200" dirty="0" smtClean="0"/>
              <a:t>子图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常用算法：</a:t>
            </a:r>
            <a:r>
              <a:rPr lang="en-US" altLang="zh-CN" sz="3200" dirty="0" err="1" smtClean="0"/>
              <a:t>tarjan</a:t>
            </a:r>
            <a:endParaRPr lang="zh-CN" altLang="en-US" sz="3200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3861048"/>
            <a:ext cx="3439188" cy="21602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Trajan 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556792"/>
            <a:ext cx="770485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 smtClean="0"/>
              <a:t>Tarjan</a:t>
            </a:r>
            <a:r>
              <a:rPr lang="zh-CN" altLang="en-US" sz="3200" dirty="0" smtClean="0"/>
              <a:t>基于</a:t>
            </a:r>
            <a:r>
              <a:rPr lang="en-US" altLang="zh-CN" sz="3200" dirty="0" err="1" smtClean="0"/>
              <a:t>dfs</a:t>
            </a:r>
            <a:r>
              <a:rPr lang="zh-CN" altLang="en-US" sz="3200" dirty="0" smtClean="0"/>
              <a:t>，每个强连通分量为搜索树中的一棵子树。搜索时，把当前搜索树中未处理的节点加入栈，回溯时可以判断栈顶到栈中的节点是否为一个强连通分量。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r>
              <a:rPr lang="zh-CN" altLang="en-US" sz="3200" dirty="0" smtClean="0"/>
              <a:t>定义</a:t>
            </a:r>
            <a:r>
              <a:rPr lang="en-US" altLang="zh-CN" sz="3200" dirty="0" err="1" smtClean="0"/>
              <a:t>Dfn</a:t>
            </a:r>
            <a:r>
              <a:rPr lang="en-US" altLang="zh-CN" sz="3200" dirty="0" smtClean="0"/>
              <a:t>(u)</a:t>
            </a:r>
            <a:r>
              <a:rPr lang="zh-CN" altLang="en-US" sz="3200" dirty="0" smtClean="0"/>
              <a:t>为节点</a:t>
            </a:r>
            <a:r>
              <a:rPr lang="en-US" altLang="zh-CN" sz="3200" dirty="0" smtClean="0"/>
              <a:t>u</a:t>
            </a:r>
            <a:r>
              <a:rPr lang="zh-CN" altLang="en-US" sz="3200" dirty="0" smtClean="0"/>
              <a:t>搜索的次序编号</a:t>
            </a:r>
            <a:r>
              <a:rPr lang="en-US" altLang="zh-CN" sz="3200" dirty="0" smtClean="0"/>
              <a:t>(</a:t>
            </a:r>
            <a:r>
              <a:rPr lang="zh-CN" altLang="en-US" sz="3200" dirty="0" smtClean="0"/>
              <a:t>时间戳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，</a:t>
            </a:r>
            <a:r>
              <a:rPr lang="en-US" altLang="zh-CN" sz="3200" dirty="0" smtClean="0"/>
              <a:t>Low(u)</a:t>
            </a:r>
            <a:r>
              <a:rPr lang="zh-CN" altLang="en-US" sz="3200" dirty="0" smtClean="0"/>
              <a:t>为</a:t>
            </a:r>
            <a:r>
              <a:rPr lang="en-US" altLang="zh-CN" sz="3200" dirty="0" smtClean="0"/>
              <a:t>u</a:t>
            </a:r>
            <a:r>
              <a:rPr lang="zh-CN" altLang="en-US" sz="3200" dirty="0" smtClean="0"/>
              <a:t>或</a:t>
            </a:r>
            <a:r>
              <a:rPr lang="en-US" altLang="zh-CN" sz="3200" dirty="0" smtClean="0"/>
              <a:t>u</a:t>
            </a:r>
            <a:r>
              <a:rPr lang="zh-CN" altLang="en-US" sz="3200" dirty="0" smtClean="0"/>
              <a:t>的子树能够追溯到的最早的栈中节点的次序号。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Trajan 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1268760"/>
            <a:ext cx="76683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算法流程：</a:t>
            </a:r>
            <a:endParaRPr lang="en-US" altLang="zh-CN" sz="2800" dirty="0" smtClean="0"/>
          </a:p>
          <a:p>
            <a:r>
              <a:rPr lang="en-US" altLang="zh-CN" sz="2800" dirty="0" err="1" smtClean="0"/>
              <a:t>tarjan</a:t>
            </a:r>
            <a:r>
              <a:rPr lang="en-US" altLang="zh-CN" sz="2800" dirty="0" smtClean="0"/>
              <a:t>(u) { </a:t>
            </a:r>
          </a:p>
          <a:p>
            <a:pPr lvl="1"/>
            <a:r>
              <a:rPr lang="en-US" altLang="zh-CN" sz="2800" dirty="0" err="1" smtClean="0"/>
              <a:t>dfn</a:t>
            </a:r>
            <a:r>
              <a:rPr lang="en-US" altLang="zh-CN" sz="2800" dirty="0" smtClean="0"/>
              <a:t>[u]=low[u]=++num</a:t>
            </a:r>
          </a:p>
          <a:p>
            <a:pPr lvl="1"/>
            <a:r>
              <a:rPr lang="en-US" altLang="zh-CN" sz="2800" dirty="0" err="1" smtClean="0"/>
              <a:t>sta.push</a:t>
            </a:r>
            <a:r>
              <a:rPr lang="en-US" altLang="zh-CN" sz="2800" dirty="0" smtClean="0"/>
              <a:t>(u) ;</a:t>
            </a:r>
          </a:p>
          <a:p>
            <a:pPr lvl="1"/>
            <a:r>
              <a:rPr lang="en-US" altLang="zh-CN" sz="2800" dirty="0" smtClean="0"/>
              <a:t>for each (u, v) in E // </a:t>
            </a:r>
            <a:r>
              <a:rPr lang="zh-CN" altLang="en-US" sz="2800" dirty="0" smtClean="0"/>
              <a:t>枚举每一条边</a:t>
            </a:r>
            <a:endParaRPr lang="en-US" altLang="zh-CN" sz="2800" dirty="0" smtClean="0"/>
          </a:p>
          <a:p>
            <a:pPr lvl="1"/>
            <a:r>
              <a:rPr lang="zh-CN" altLang="en-US" sz="2800" dirty="0" smtClean="0"/>
              <a:t> </a:t>
            </a:r>
            <a:r>
              <a:rPr lang="en-US" altLang="zh-CN" sz="2800" dirty="0" smtClean="0"/>
              <a:t>if (! </a:t>
            </a:r>
            <a:r>
              <a:rPr lang="en-US" altLang="zh-CN" sz="2800" dirty="0" err="1" smtClean="0"/>
              <a:t>dfn</a:t>
            </a:r>
            <a:r>
              <a:rPr lang="en-US" altLang="zh-CN" sz="2800" dirty="0" smtClean="0"/>
              <a:t>[v])</a:t>
            </a:r>
          </a:p>
          <a:p>
            <a:pPr lvl="2"/>
            <a:r>
              <a:rPr lang="en-US" altLang="zh-CN" sz="2800" dirty="0" err="1" smtClean="0"/>
              <a:t>tarjan</a:t>
            </a:r>
            <a:r>
              <a:rPr lang="en-US" altLang="zh-CN" sz="2800" dirty="0" smtClean="0"/>
              <a:t>(v)</a:t>
            </a:r>
          </a:p>
          <a:p>
            <a:pPr lvl="2"/>
            <a:r>
              <a:rPr lang="en-US" altLang="zh-CN" sz="2800" dirty="0" smtClean="0"/>
              <a:t>low[u] = min(low[u], low[v]) </a:t>
            </a:r>
          </a:p>
          <a:p>
            <a:pPr lvl="1"/>
            <a:r>
              <a:rPr lang="en-US" altLang="zh-CN" sz="2800" dirty="0" smtClean="0"/>
              <a:t>else if (v in S)	Low[u] = min(low[u], </a:t>
            </a:r>
            <a:r>
              <a:rPr lang="en-US" altLang="zh-CN" sz="2800" dirty="0" err="1" smtClean="0"/>
              <a:t>dfn</a:t>
            </a:r>
            <a:r>
              <a:rPr lang="en-US" altLang="zh-CN" sz="2800" dirty="0" smtClean="0"/>
              <a:t>[v]) </a:t>
            </a:r>
          </a:p>
          <a:p>
            <a:pPr lvl="1"/>
            <a:r>
              <a:rPr lang="en-US" altLang="zh-CN" sz="2800" dirty="0" smtClean="0"/>
              <a:t>if (</a:t>
            </a:r>
            <a:r>
              <a:rPr lang="en-US" altLang="zh-CN" sz="2800" dirty="0" err="1" smtClean="0"/>
              <a:t>dfn</a:t>
            </a:r>
            <a:r>
              <a:rPr lang="en-US" altLang="zh-CN" sz="2800" dirty="0" smtClean="0"/>
              <a:t>[u] == low[u])</a:t>
            </a:r>
          </a:p>
          <a:p>
            <a:r>
              <a:rPr lang="en-US" altLang="zh-CN" sz="2800" dirty="0" smtClean="0"/>
              <a:t>	</a:t>
            </a:r>
            <a:r>
              <a:rPr lang="zh-CN" altLang="en-US" sz="2800" dirty="0" smtClean="0"/>
              <a:t>退栈直到栈顶</a:t>
            </a:r>
            <a:r>
              <a:rPr lang="en-US" altLang="zh-CN" sz="2800" dirty="0" smtClean="0"/>
              <a:t>=u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en-US" altLang="zh-CN" sz="2800" dirty="0" smtClean="0"/>
              <a:t>}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无向图的</a:t>
            </a: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Trajan 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1196752"/>
            <a:ext cx="813690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 smtClean="0"/>
              <a:t>基本概念：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割点。删除该点图的连通分量数增加。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割边</a:t>
            </a:r>
            <a:r>
              <a:rPr lang="en-US" altLang="zh-CN" sz="3200" dirty="0" smtClean="0"/>
              <a:t>/</a:t>
            </a:r>
            <a:r>
              <a:rPr lang="zh-CN" altLang="en-US" sz="3200" dirty="0" smtClean="0"/>
              <a:t>桥。删掉该边图的连通分量数增加</a:t>
            </a:r>
            <a:endParaRPr lang="en-US" altLang="zh-CN" sz="3200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块（点双连通）。至少删除两个点才能破坏无向图的连通性。</a:t>
            </a:r>
          </a:p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边双连通。就是将桥删除后整个图分成的连通块</a:t>
            </a:r>
          </a:p>
          <a:p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欧拉回路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124744"/>
            <a:ext cx="84604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>
                <a:latin typeface="+mj-ea"/>
                <a:ea typeface="+mj-ea"/>
              </a:rPr>
              <a:t>定义：</a:t>
            </a:r>
          </a:p>
          <a:p>
            <a:r>
              <a:rPr lang="zh-CN" altLang="en-US" sz="3200" dirty="0" smtClean="0"/>
              <a:t>图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的一个回路，若它恰通过</a:t>
            </a:r>
            <a:r>
              <a:rPr lang="en-US" altLang="zh-CN" sz="3200" dirty="0" smtClean="0"/>
              <a:t>G</a:t>
            </a:r>
            <a:r>
              <a:rPr lang="zh-CN" altLang="en-US" sz="3200" dirty="0" smtClean="0"/>
              <a:t>中每条边一次</a:t>
            </a:r>
            <a:r>
              <a:rPr lang="en-US" altLang="zh-CN" sz="3200" dirty="0" smtClean="0"/>
              <a:t>,</a:t>
            </a:r>
            <a:r>
              <a:rPr lang="zh-CN" altLang="en-US" sz="3200" dirty="0" smtClean="0"/>
              <a:t>则称该回路为欧拉</a:t>
            </a:r>
            <a:r>
              <a:rPr lang="en-US" altLang="zh-CN" sz="3200" dirty="0" smtClean="0"/>
              <a:t>(Euler)</a:t>
            </a:r>
            <a:r>
              <a:rPr lang="zh-CN" altLang="en-US" sz="3200" dirty="0" smtClean="0"/>
              <a:t>回路。</a:t>
            </a:r>
          </a:p>
          <a:p>
            <a:r>
              <a:rPr lang="zh-CN" altLang="en-US" sz="3200" dirty="0" smtClean="0"/>
              <a:t>具有欧拉回路的图称为欧拉图。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>
                <a:latin typeface="+mj-ea"/>
                <a:ea typeface="+mj-ea"/>
              </a:rPr>
              <a:t>判定</a:t>
            </a:r>
            <a:r>
              <a:rPr lang="en-US" altLang="zh-CN" sz="3200" dirty="0" smtClean="0">
                <a:latin typeface="+mj-ea"/>
                <a:ea typeface="+mj-ea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3200" dirty="0" smtClean="0">
                <a:latin typeface="+mj-ea"/>
                <a:ea typeface="+mj-ea"/>
              </a:rPr>
              <a:t>无向图：图连通；图中所有节点度均为偶数</a:t>
            </a:r>
          </a:p>
          <a:p>
            <a:r>
              <a:rPr lang="zh-CN" altLang="en-US" sz="3200" dirty="0" smtClean="0">
                <a:latin typeface="+mj-ea"/>
                <a:ea typeface="+mj-ea"/>
              </a:rPr>
              <a:t>有向图：图连通；所有节点入度</a:t>
            </a:r>
            <a:r>
              <a:rPr lang="en-US" altLang="zh-CN" sz="3200" dirty="0" smtClean="0">
                <a:latin typeface="+mj-ea"/>
                <a:ea typeface="+mj-ea"/>
              </a:rPr>
              <a:t>=</a:t>
            </a:r>
            <a:r>
              <a:rPr lang="zh-CN" altLang="en-US" sz="3200" dirty="0" smtClean="0">
                <a:latin typeface="+mj-ea"/>
                <a:ea typeface="+mj-ea"/>
              </a:rPr>
              <a:t>出度</a:t>
            </a:r>
            <a:endParaRPr lang="en-US" altLang="zh-CN" sz="3200" dirty="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 smtClean="0">
                <a:latin typeface="+mj-ea"/>
                <a:ea typeface="+mj-ea"/>
              </a:rPr>
              <a:t>混合图：用网络流</a:t>
            </a:r>
          </a:p>
          <a:p>
            <a:endParaRPr lang="zh-CN" altLang="en-US" sz="3200" dirty="0" smtClean="0"/>
          </a:p>
          <a:p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输出一条路径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340768"/>
            <a:ext cx="784887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算法过程</a:t>
            </a:r>
            <a:endParaRPr lang="en-US" altLang="zh-CN" sz="3200" dirty="0" smtClean="0"/>
          </a:p>
          <a:p>
            <a:pPr lvl="1"/>
            <a:r>
              <a:rPr lang="zh-CN" altLang="en-US" sz="3200" dirty="0" smtClean="0"/>
              <a:t>找一个起点，选择一条与之相连的边，做标记，保证只访问一次；然后递归访问与之相连的节点，把该边存入路径，倒序输出即是一条欧拉回路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复杂度：</a:t>
            </a:r>
            <a:r>
              <a:rPr lang="en-US" altLang="zh-CN" sz="3200" dirty="0" smtClean="0"/>
              <a:t>O(e)</a:t>
            </a:r>
            <a:endParaRPr lang="zh-CN" altLang="en-US" sz="3200" dirty="0" smtClean="0"/>
          </a:p>
          <a:p>
            <a:endParaRPr lang="zh-CN" altLang="en-US" sz="3200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最近公共祖先</a:t>
            </a: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/>
            </a:r>
            <a:b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</a:b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LCA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9552" y="1772816"/>
            <a:ext cx="8208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最近公共祖先：两个点所有的祖先结点中深度最大的一个结点。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用处：求树上两点间的距离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算法：一般有在线</a:t>
            </a:r>
            <a:r>
              <a:rPr lang="en-US" altLang="zh-CN" sz="3200" dirty="0" smtClean="0"/>
              <a:t>(</a:t>
            </a:r>
            <a:r>
              <a:rPr lang="zh-CN" altLang="en-US" sz="3200" dirty="0" smtClean="0"/>
              <a:t>倍增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和离线</a:t>
            </a:r>
            <a:r>
              <a:rPr lang="en-US" altLang="zh-CN" sz="3200" dirty="0" smtClean="0"/>
              <a:t>(</a:t>
            </a:r>
            <a:r>
              <a:rPr lang="en-US" altLang="zh-CN" sz="3200" dirty="0" err="1" smtClean="0"/>
              <a:t>tarjan</a:t>
            </a:r>
            <a:r>
              <a:rPr lang="en-US" altLang="zh-CN" sz="3200" dirty="0" smtClean="0"/>
              <a:t>)</a:t>
            </a:r>
            <a:r>
              <a:rPr lang="zh-CN" altLang="en-US" sz="3200" dirty="0" smtClean="0"/>
              <a:t>两种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最近公共祖先</a:t>
            </a:r>
            <a:r>
              <a:rPr lang="en-US" altLang="zh-CN" dirty="0" smtClean="0">
                <a:latin typeface="Adobe 楷体 Std R" pitchFamily="18" charset="-122"/>
                <a:ea typeface="Adobe 楷体 Std R" pitchFamily="18" charset="-122"/>
              </a:rPr>
              <a:t> </a:t>
            </a:r>
            <a:r>
              <a:rPr lang="en-US" altLang="zh-CN" dirty="0" err="1" smtClean="0">
                <a:latin typeface="Adobe 楷体 Std R" pitchFamily="18" charset="-122"/>
                <a:ea typeface="Adobe 楷体 Std R" pitchFamily="18" charset="-122"/>
              </a:rPr>
              <a:t>tarjan</a:t>
            </a:r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算法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1628800"/>
            <a:ext cx="82809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CN" altLang="en-US" sz="3200" dirty="0" smtClean="0"/>
              <a:t>算法过程：从一个节点开始</a:t>
            </a:r>
            <a:r>
              <a:rPr lang="en-US" altLang="zh-CN" sz="3200" dirty="0" err="1" smtClean="0"/>
              <a:t>dfs</a:t>
            </a:r>
            <a:r>
              <a:rPr lang="zh-CN" altLang="en-US" sz="3200" dirty="0" smtClean="0"/>
              <a:t>，将其子孙节点用并查集和其放入一个集合中去。遍历完它的所有子孙节点再去查找与这个节点有关的所有询问，如果被询问的另一个点</a:t>
            </a:r>
            <a:r>
              <a:rPr lang="en-US" altLang="zh-CN" sz="3200" dirty="0" smtClean="0"/>
              <a:t>v</a:t>
            </a:r>
            <a:r>
              <a:rPr lang="zh-CN" altLang="en-US" sz="3200" dirty="0" smtClean="0"/>
              <a:t>也被访问过，它们的公共祖先就是</a:t>
            </a:r>
            <a:r>
              <a:rPr lang="en-US" altLang="zh-CN" sz="3200" dirty="0" smtClean="0"/>
              <a:t>v</a:t>
            </a:r>
            <a:r>
              <a:rPr lang="zh-CN" altLang="en-US" sz="3200" dirty="0" smtClean="0"/>
              <a:t>当前所在集合深度最小的点，可以通过并查集查找。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复杂度：</a:t>
            </a:r>
            <a:r>
              <a:rPr lang="en-US" altLang="zh-CN" sz="3200" dirty="0" smtClean="0"/>
              <a:t>O(n + q)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Adobe 楷体 Std R" pitchFamily="18" charset="-122"/>
                <a:ea typeface="Adobe 楷体 Std R" pitchFamily="18" charset="-122"/>
              </a:rPr>
              <a:t>其他图论问题</a:t>
            </a:r>
            <a:endParaRPr lang="zh-CN" altLang="en-US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484784"/>
            <a:ext cx="3960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3200" dirty="0" smtClean="0"/>
              <a:t>2-sat</a:t>
            </a:r>
            <a:endParaRPr lang="zh-CN" altLang="en-US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二</a:t>
            </a:r>
            <a:r>
              <a:rPr lang="zh-CN" altLang="en-US" sz="3200" smtClean="0"/>
              <a:t>分</a:t>
            </a:r>
            <a:r>
              <a:rPr lang="zh-CN" altLang="en-US" sz="3200" smtClean="0"/>
              <a:t>图</a:t>
            </a:r>
            <a:r>
              <a:rPr lang="zh-CN" altLang="en-US" sz="3200" smtClean="0"/>
              <a:t>最大匹配</a:t>
            </a:r>
            <a:endParaRPr lang="en-US" altLang="zh-CN" sz="3200" dirty="0" smtClean="0"/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最小环</a:t>
            </a:r>
            <a:endParaRPr lang="en-US" altLang="zh-CN" sz="3200" dirty="0" smtClean="0"/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带花树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endParaRPr lang="zh-CN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 smtClean="0">
                <a:latin typeface="Adobe 楷体 Std R" pitchFamily="18" charset="-122"/>
                <a:ea typeface="Adobe 楷体 Std R" pitchFamily="18" charset="-122"/>
              </a:rPr>
              <a:t>最后</a:t>
            </a:r>
            <a:r>
              <a:rPr lang="en-US" altLang="zh-CN" sz="5400" dirty="0" smtClean="0">
                <a:latin typeface="Adobe 楷体 Std R" pitchFamily="18" charset="-122"/>
                <a:ea typeface="Adobe 楷体 Std R" pitchFamily="18" charset="-122"/>
              </a:rPr>
              <a:t>……</a:t>
            </a:r>
            <a:endParaRPr lang="zh-CN" altLang="en-US" sz="5400" dirty="0">
              <a:latin typeface="Adobe 楷体 Std R" pitchFamily="18" charset="-122"/>
              <a:ea typeface="Adobe 楷体 Std R" pitchFamily="18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484784"/>
            <a:ext cx="741682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图论的常用算法都不难，主要在于构图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不要太依赖模板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常常只是一道题中的一部分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200" dirty="0" smtClean="0"/>
              <a:t>专题训练链接：</a:t>
            </a:r>
            <a:endParaRPr lang="en-US" altLang="zh-CN" sz="3200" dirty="0" smtClean="0"/>
          </a:p>
          <a:p>
            <a:r>
              <a:rPr lang="en-US" altLang="zh-CN" sz="2800" dirty="0" smtClean="0">
                <a:hlinkClick r:id="rId2"/>
              </a:rPr>
              <a:t>http://acm.hust.edu.cn/vjudge/contest/view.action?cid=27385#overview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718</TotalTime>
  <Words>1227</Words>
  <Application>Microsoft Office PowerPoint</Application>
  <PresentationFormat>全屏显示(4:3)</PresentationFormat>
  <Paragraphs>140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龙腾四海</vt:lpstr>
      <vt:lpstr>幻灯片 1</vt:lpstr>
      <vt:lpstr>图的定义</vt:lpstr>
      <vt:lpstr>常见问题</vt:lpstr>
      <vt:lpstr>最小生成树 MST (minimum spanning tree)</vt:lpstr>
      <vt:lpstr>Prim算法</vt:lpstr>
      <vt:lpstr>Kruskal算法</vt:lpstr>
      <vt:lpstr>看一个题目</vt:lpstr>
      <vt:lpstr>一些变形</vt:lpstr>
      <vt:lpstr>最短路  Shortest Path</vt:lpstr>
      <vt:lpstr>Dijkstra算法</vt:lpstr>
      <vt:lpstr>Floyd算法</vt:lpstr>
      <vt:lpstr>SPFA算法</vt:lpstr>
      <vt:lpstr>UVALive 5862 City Travel</vt:lpstr>
      <vt:lpstr>另一些最短路变形</vt:lpstr>
      <vt:lpstr>拓扑排序</vt:lpstr>
      <vt:lpstr>POJ 3249 Test for Job</vt:lpstr>
      <vt:lpstr>强连通分量</vt:lpstr>
      <vt:lpstr>Trajan 算法</vt:lpstr>
      <vt:lpstr>Trajan 算法</vt:lpstr>
      <vt:lpstr>无向图的Trajan </vt:lpstr>
      <vt:lpstr>欧拉回路</vt:lpstr>
      <vt:lpstr>输出一条路径</vt:lpstr>
      <vt:lpstr>最近公共祖先 LCA</vt:lpstr>
      <vt:lpstr>最近公共祖先 tarjan算法</vt:lpstr>
      <vt:lpstr>其他图论问题</vt:lpstr>
      <vt:lpstr>最后……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acer</dc:creator>
  <cp:lastModifiedBy>acer</cp:lastModifiedBy>
  <cp:revision>72</cp:revision>
  <dcterms:created xsi:type="dcterms:W3CDTF">2013-07-26T12:23:46Z</dcterms:created>
  <dcterms:modified xsi:type="dcterms:W3CDTF">2013-07-29T04:09:01Z</dcterms:modified>
</cp:coreProperties>
</file>