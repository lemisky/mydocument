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71" r:id="rId9"/>
    <p:sldId id="272" r:id="rId10"/>
    <p:sldId id="262" r:id="rId11"/>
    <p:sldId id="263" r:id="rId12"/>
    <p:sldId id="268" r:id="rId13"/>
    <p:sldId id="269" r:id="rId14"/>
    <p:sldId id="264" r:id="rId15"/>
    <p:sldId id="265" r:id="rId16"/>
    <p:sldId id="267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0827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0E655-F5BD-4E5D-BD7A-81B732BAEDB2}" type="datetimeFigureOut">
              <a:rPr lang="zh-CN" altLang="en-US" smtClean="0"/>
              <a:t>2013/4/14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18808-E127-419C-BFF0-6D3E94417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80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18808-E127-419C-BFF0-6D3E94417FC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14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89213" y="1947930"/>
            <a:ext cx="8915399" cy="2262781"/>
          </a:xfrm>
        </p:spPr>
        <p:txBody>
          <a:bodyPr>
            <a:normAutofit/>
          </a:bodyPr>
          <a:lstStyle/>
          <a:p>
            <a:r>
              <a:rPr lang="zh-CN" altLang="en-US" sz="6600" dirty="0" smtClean="0"/>
              <a:t>动态规划</a:t>
            </a:r>
            <a:endParaRPr lang="zh-CN" altLang="en-US" sz="6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204428" y="4535903"/>
            <a:ext cx="3684967" cy="1126283"/>
          </a:xfrm>
        </p:spPr>
        <p:txBody>
          <a:bodyPr>
            <a:normAutofit/>
          </a:bodyPr>
          <a:lstStyle/>
          <a:p>
            <a:r>
              <a:rPr lang="en-US" altLang="zh-CN" sz="3200" dirty="0" smtClean="0"/>
              <a:t>By yiyezhiqiu</a:t>
            </a:r>
            <a:endParaRPr lang="zh-CN" altLang="en-US" sz="3200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127" y="0"/>
            <a:ext cx="2210873" cy="16227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445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 smtClean="0"/>
              <a:t>常见类型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 smtClean="0"/>
              <a:t>区间</a:t>
            </a:r>
            <a:r>
              <a:rPr lang="en-US" altLang="zh-CN" sz="4400" dirty="0" smtClean="0"/>
              <a:t>DP</a:t>
            </a:r>
          </a:p>
          <a:p>
            <a:r>
              <a:rPr lang="zh-CN" altLang="en-US" sz="4400" dirty="0" smtClean="0"/>
              <a:t>状态压缩</a:t>
            </a:r>
            <a:r>
              <a:rPr lang="en-US" altLang="zh-CN" sz="4400" dirty="0" smtClean="0"/>
              <a:t>DP</a:t>
            </a:r>
          </a:p>
          <a:p>
            <a:r>
              <a:rPr lang="zh-CN" altLang="en-US" sz="4400" dirty="0" smtClean="0"/>
              <a:t>树形</a:t>
            </a:r>
            <a:r>
              <a:rPr lang="en-US" altLang="zh-CN" sz="4400" dirty="0" smtClean="0"/>
              <a:t>DP</a:t>
            </a:r>
          </a:p>
          <a:p>
            <a:r>
              <a:rPr lang="zh-CN" altLang="en-US" sz="4400" dirty="0" smtClean="0"/>
              <a:t>数位</a:t>
            </a:r>
            <a:r>
              <a:rPr lang="en-US" altLang="zh-CN" sz="4400" dirty="0" smtClean="0"/>
              <a:t>DP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385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1027" y="237743"/>
            <a:ext cx="8911687" cy="1280890"/>
          </a:xfrm>
        </p:spPr>
        <p:txBody>
          <a:bodyPr>
            <a:normAutofit/>
          </a:bodyPr>
          <a:lstStyle/>
          <a:p>
            <a:r>
              <a:rPr lang="zh-CN" altLang="en-US" sz="5400" dirty="0"/>
              <a:t>区间</a:t>
            </a:r>
            <a:r>
              <a:rPr lang="en-US" altLang="zh-CN" sz="5400" dirty="0" smtClean="0"/>
              <a:t>DP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1027" y="1416676"/>
            <a:ext cx="8911687" cy="5241701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区间</a:t>
            </a:r>
            <a:r>
              <a:rPr lang="en-US" altLang="zh-CN" sz="3200" dirty="0" smtClean="0"/>
              <a:t>DP</a:t>
            </a:r>
            <a:r>
              <a:rPr lang="zh-CN" altLang="en-US" sz="3200" dirty="0" smtClean="0"/>
              <a:t>也就是对区间问题进行求解，问题通常满足区间加减法。</a:t>
            </a:r>
            <a:endParaRPr lang="en-US" altLang="zh-CN" sz="3200" dirty="0" smtClean="0"/>
          </a:p>
          <a:p>
            <a:r>
              <a:rPr lang="zh-CN" altLang="en-US" sz="3200" dirty="0"/>
              <a:t>一般情况下为二维。然后将问题划分成两个子问题，也就是一段区间</a:t>
            </a:r>
            <a:r>
              <a:rPr lang="zh-CN" altLang="en-US" sz="3200" dirty="0" smtClean="0"/>
              <a:t>分成两</a:t>
            </a:r>
            <a:r>
              <a:rPr lang="zh-CN" altLang="en-US" sz="3200" dirty="0"/>
              <a:t>个区间，然后</a:t>
            </a:r>
            <a:r>
              <a:rPr lang="zh-CN" altLang="en-US" sz="3200" dirty="0" smtClean="0"/>
              <a:t>将两</a:t>
            </a:r>
            <a:r>
              <a:rPr lang="zh-CN" altLang="en-US" sz="3200" dirty="0"/>
              <a:t>个区间合并到整个区间，或者说局部最优解合并为全局最优解，然后得解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</p:txBody>
      </p:sp>
    </p:spTree>
    <p:extLst>
      <p:ext uri="{BB962C8B-B14F-4D97-AF65-F5344CB8AC3E}">
        <p14:creationId xmlns:p14="http://schemas.microsoft.com/office/powerpoint/2010/main" val="151431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7314" y="224865"/>
            <a:ext cx="8911687" cy="753929"/>
          </a:xfrm>
        </p:spPr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7314" y="978793"/>
            <a:ext cx="9435942" cy="5550796"/>
          </a:xfrm>
        </p:spPr>
        <p:txBody>
          <a:bodyPr/>
          <a:lstStyle/>
          <a:p>
            <a:pPr lvl="0">
              <a:buClr>
                <a:srgbClr val="353535"/>
              </a:buClr>
            </a:pPr>
            <a:r>
              <a:rPr lang="en-US" altLang="zh-CN" sz="4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Description:</a:t>
            </a:r>
          </a:p>
          <a:p>
            <a:r>
              <a:rPr lang="zh-CN" altLang="en-US" sz="4000" dirty="0" smtClean="0"/>
              <a:t>给一个字符串</a:t>
            </a:r>
            <a:r>
              <a:rPr lang="en-US" altLang="zh-CN" sz="4000" dirty="0" smtClean="0"/>
              <a:t>s(1&lt;=|s|&lt;=5000),</a:t>
            </a:r>
            <a:r>
              <a:rPr lang="zh-CN" altLang="en-US" sz="4000" dirty="0" smtClean="0"/>
              <a:t>然后给若干个区间</a:t>
            </a:r>
            <a:r>
              <a:rPr lang="en-US" altLang="zh-CN" sz="4000" dirty="0" smtClean="0"/>
              <a:t>[</a:t>
            </a:r>
            <a:r>
              <a:rPr lang="en-US" altLang="zh-CN" sz="4000" dirty="0" err="1" smtClean="0"/>
              <a:t>l,r</a:t>
            </a:r>
            <a:r>
              <a:rPr lang="en-US" altLang="zh-CN" sz="4000" dirty="0" smtClean="0"/>
              <a:t>],</a:t>
            </a:r>
            <a:r>
              <a:rPr lang="zh-CN" altLang="en-US" sz="4000" dirty="0" smtClean="0"/>
              <a:t>询问该区间中回文串有多少个。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1710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4436" y="147592"/>
            <a:ext cx="8779120" cy="8955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思路与解法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4436" y="1043189"/>
            <a:ext cx="9748748" cy="5615188"/>
          </a:xfrm>
          <a:noFill/>
        </p:spPr>
        <p:txBody>
          <a:bodyPr>
            <a:normAutofit/>
          </a:bodyPr>
          <a:lstStyle/>
          <a:p>
            <a:r>
              <a:rPr lang="zh-CN" altLang="en-US" sz="2800" dirty="0" smtClean="0"/>
              <a:t>首先注意到回文串的可扩展性，即如若</a:t>
            </a:r>
            <a:r>
              <a:rPr lang="en-US" altLang="zh-CN" sz="2800" dirty="0" smtClean="0"/>
              <a:t>s[</a:t>
            </a:r>
            <a:r>
              <a:rPr lang="en-US" altLang="zh-CN" sz="2800" dirty="0" err="1" smtClean="0"/>
              <a:t>l,r</a:t>
            </a:r>
            <a:r>
              <a:rPr lang="en-US" altLang="zh-CN" sz="2800" dirty="0" smtClean="0"/>
              <a:t>]</a:t>
            </a:r>
            <a:r>
              <a:rPr lang="zh-CN" altLang="en-US" sz="2800" dirty="0" smtClean="0"/>
              <a:t>是一个回文串</a:t>
            </a:r>
            <a:r>
              <a:rPr lang="en-US" altLang="zh-CN" sz="2800" dirty="0" smtClean="0"/>
              <a:t>,</a:t>
            </a:r>
            <a:r>
              <a:rPr lang="zh-CN" altLang="en-US" sz="2800" dirty="0" smtClean="0"/>
              <a:t>并且</a:t>
            </a:r>
            <a:r>
              <a:rPr lang="en-US" altLang="zh-CN" sz="2800" dirty="0" smtClean="0"/>
              <a:t>s[l-1]=s[r+1],</a:t>
            </a:r>
            <a:r>
              <a:rPr lang="zh-CN" altLang="en-US" sz="2800" dirty="0" smtClean="0"/>
              <a:t>那么</a:t>
            </a:r>
            <a:r>
              <a:rPr lang="en-US" altLang="zh-CN" sz="2800" dirty="0" smtClean="0"/>
              <a:t>s[l-1,r+1]</a:t>
            </a:r>
            <a:r>
              <a:rPr lang="zh-CN" altLang="en-US" sz="2800" dirty="0" smtClean="0"/>
              <a:t>也是一个回文串。那么可以考虑状态转移时由长度开始枚举。</a:t>
            </a:r>
            <a:endParaRPr lang="en-US" altLang="zh-CN" sz="2800" dirty="0" smtClean="0"/>
          </a:p>
          <a:p>
            <a:r>
              <a:rPr lang="zh-CN" altLang="en-US" sz="2800" dirty="0" smtClean="0"/>
              <a:t>其次注意到该问题满足容斥定理。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/>
              <a:t>那么设计状态</a:t>
            </a:r>
            <a:r>
              <a:rPr lang="en-US" altLang="zh-CN" sz="2800" dirty="0" smtClean="0"/>
              <a:t>f[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][j],</a:t>
            </a:r>
            <a:r>
              <a:rPr lang="zh-CN" altLang="en-US" sz="2800" dirty="0" smtClean="0"/>
              <a:t>表示从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到</a:t>
            </a:r>
            <a:r>
              <a:rPr lang="en-US" altLang="zh-CN" sz="2800" dirty="0" smtClean="0"/>
              <a:t>j</a:t>
            </a:r>
            <a:r>
              <a:rPr lang="zh-CN" altLang="en-US" sz="2800" dirty="0" smtClean="0"/>
              <a:t>区间内回文串的个数。</a:t>
            </a:r>
            <a:endParaRPr lang="en-US" altLang="zh-CN" sz="2800" dirty="0" smtClean="0"/>
          </a:p>
          <a:p>
            <a:r>
              <a:rPr lang="zh-CN" altLang="en-US" sz="2800" dirty="0" smtClean="0"/>
              <a:t>那么</a:t>
            </a:r>
            <a:r>
              <a:rPr lang="en-US" altLang="zh-CN" sz="2800" dirty="0" smtClean="0"/>
              <a:t>f[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][j] = f[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][j-1]+f[i+1</a:t>
            </a:r>
            <a:r>
              <a:rPr lang="en-US" altLang="zh-CN" sz="2800" smtClean="0"/>
              <a:t>][</a:t>
            </a:r>
            <a:r>
              <a:rPr lang="en-US" altLang="zh-CN" sz="2800" smtClean="0"/>
              <a:t>j]-</a:t>
            </a:r>
            <a:r>
              <a:rPr lang="en-US" altLang="zh-CN" sz="2800" dirty="0" smtClean="0"/>
              <a:t>f[i+1][j-1]+</a:t>
            </a:r>
            <a:r>
              <a:rPr lang="en-US" altLang="zh-CN" sz="2800" dirty="0" err="1" smtClean="0"/>
              <a:t>isPalindrome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i,j</a:t>
            </a:r>
            <a:r>
              <a:rPr lang="en-US" altLang="zh-CN" sz="2800" dirty="0" smtClean="0"/>
              <a:t>);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7715250" y="2731770"/>
            <a:ext cx="30175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084820" y="2975610"/>
            <a:ext cx="30175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715250" y="3219450"/>
            <a:ext cx="3387090" cy="207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414972" y="2547104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599673" y="2773441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</a:t>
            </a:r>
            <a:r>
              <a:rPr lang="en-US" altLang="zh-CN" dirty="0" smtClean="0"/>
              <a:t>+1</a:t>
            </a:r>
            <a:endParaRPr lang="zh-CN" altLang="en-US" dirty="0"/>
          </a:p>
        </p:txBody>
      </p:sp>
      <p:sp>
        <p:nvSpPr>
          <p:cNvPr id="19" name="文本框 9"/>
          <p:cNvSpPr txBox="1"/>
          <p:nvPr/>
        </p:nvSpPr>
        <p:spPr>
          <a:xfrm>
            <a:off x="7415244" y="3041448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l</a:t>
            </a:r>
            <a:endParaRPr lang="zh-CN" altLang="en-US" dirty="0"/>
          </a:p>
        </p:txBody>
      </p:sp>
      <p:sp>
        <p:nvSpPr>
          <p:cNvPr id="20" name="文本框 9"/>
          <p:cNvSpPr txBox="1"/>
          <p:nvPr/>
        </p:nvSpPr>
        <p:spPr>
          <a:xfrm>
            <a:off x="10732770" y="2505194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</a:t>
            </a:r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22" name="文本框 9"/>
          <p:cNvSpPr txBox="1"/>
          <p:nvPr/>
        </p:nvSpPr>
        <p:spPr>
          <a:xfrm>
            <a:off x="11102340" y="2790944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</a:t>
            </a:r>
            <a:endParaRPr lang="zh-CN" altLang="en-US" dirty="0"/>
          </a:p>
        </p:txBody>
      </p:sp>
      <p:sp>
        <p:nvSpPr>
          <p:cNvPr id="24" name="文本框 9"/>
          <p:cNvSpPr txBox="1"/>
          <p:nvPr/>
        </p:nvSpPr>
        <p:spPr>
          <a:xfrm>
            <a:off x="11113561" y="3041448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8077199" y="2436887"/>
            <a:ext cx="7620" cy="107405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721341" y="2436887"/>
            <a:ext cx="7620" cy="1074050"/>
          </a:xfrm>
          <a:prstGeom prst="line">
            <a:avLst/>
          </a:prstGeom>
          <a:ln>
            <a:solidFill>
              <a:schemeClr val="accent1">
                <a:shade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46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36102" y="134712"/>
            <a:ext cx="8911687" cy="1280890"/>
          </a:xfrm>
        </p:spPr>
        <p:txBody>
          <a:bodyPr>
            <a:normAutofit/>
          </a:bodyPr>
          <a:lstStyle/>
          <a:p>
            <a:r>
              <a:rPr lang="zh-CN" altLang="en-US" sz="5400" dirty="0" smtClean="0"/>
              <a:t>状态压缩</a:t>
            </a:r>
            <a:r>
              <a:rPr lang="en-US" altLang="zh-CN" sz="5400" dirty="0" smtClean="0"/>
              <a:t>DP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36101" y="1180563"/>
            <a:ext cx="8911687" cy="541342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这类的问题一般都有一个明显的特征就是状态的表示不太容易，大多时候需要记录很多的信息，而状态表示的每一维取值范围不大。典型的如棋盘上的一些问题</a:t>
            </a:r>
            <a:r>
              <a:rPr lang="zh-CN" altLang="en-US" sz="3200" dirty="0" smtClean="0"/>
              <a:t>，旅行商问题。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1301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7314" y="224865"/>
            <a:ext cx="8911687" cy="753929"/>
          </a:xfrm>
        </p:spPr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7314" y="978793"/>
            <a:ext cx="9435942" cy="5550796"/>
          </a:xfrm>
        </p:spPr>
        <p:txBody>
          <a:bodyPr/>
          <a:lstStyle/>
          <a:p>
            <a:r>
              <a:rPr lang="en-US" altLang="zh-CN" sz="4000" b="1" dirty="0" smtClean="0"/>
              <a:t>Description</a:t>
            </a:r>
            <a:r>
              <a:rPr lang="en-US" altLang="zh-CN" sz="4000" b="1" dirty="0"/>
              <a:t>:</a:t>
            </a:r>
          </a:p>
          <a:p>
            <a:r>
              <a:rPr lang="zh-CN" altLang="en-US" sz="3200" dirty="0" smtClean="0"/>
              <a:t>给一个简单图，输出该图中环的总数。其中点数</a:t>
            </a:r>
            <a:r>
              <a:rPr lang="en-US" altLang="zh-CN" sz="3200" dirty="0" smtClean="0"/>
              <a:t>n(1&lt;=n&lt;=19)</a:t>
            </a:r>
            <a:r>
              <a:rPr lang="zh-CN" altLang="en-US" sz="3200" dirty="0" smtClean="0"/>
              <a:t>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0113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4436" y="147592"/>
            <a:ext cx="8779120" cy="8955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思路与解法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4436" y="1043189"/>
            <a:ext cx="9748748" cy="5615188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可以将其转化为哈密顿回路问题。</a:t>
            </a:r>
            <a:endParaRPr lang="en-US" altLang="zh-CN" sz="3200" dirty="0" smtClean="0"/>
          </a:p>
          <a:p>
            <a:r>
              <a:rPr lang="zh-CN" altLang="en-US" sz="3200" dirty="0" smtClean="0"/>
              <a:t>首先，任意一个环从环上任意点出发均相同。</a:t>
            </a:r>
            <a:r>
              <a:rPr lang="en-US" altLang="zh-CN" sz="3200" dirty="0" smtClean="0"/>
              <a:t>(</a:t>
            </a:r>
            <a:r>
              <a:rPr lang="zh-CN" altLang="en-US" sz="3200" dirty="0" smtClean="0"/>
              <a:t>固定起点</a:t>
            </a:r>
            <a:r>
              <a:rPr lang="en-US" altLang="zh-CN" sz="3200" dirty="0" smtClean="0"/>
              <a:t>)</a:t>
            </a:r>
          </a:p>
          <a:p>
            <a:r>
              <a:rPr lang="zh-CN" altLang="en-US" sz="3200" dirty="0" smtClean="0"/>
              <a:t>其次，不会经过同一点两次。</a:t>
            </a:r>
            <a:endParaRPr lang="en-US" altLang="zh-CN" sz="3200" dirty="0"/>
          </a:p>
          <a:p>
            <a:r>
              <a:rPr lang="zh-CN" altLang="en-US" sz="3200" dirty="0" smtClean="0"/>
              <a:t>那么每个点就有两个状态，</a:t>
            </a:r>
            <a:r>
              <a:rPr lang="en-US" altLang="zh-CN" sz="3200" dirty="0" smtClean="0"/>
              <a:t>0(</a:t>
            </a:r>
            <a:r>
              <a:rPr lang="zh-CN" altLang="en-US" sz="3200" dirty="0" smtClean="0"/>
              <a:t>未到过该点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1(</a:t>
            </a:r>
            <a:r>
              <a:rPr lang="zh-CN" altLang="en-US" sz="3200" dirty="0" smtClean="0"/>
              <a:t>到过该点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，则可以对旅行的状态进行压缩。</a:t>
            </a:r>
            <a:endParaRPr lang="en-US" altLang="zh-CN" sz="3200" dirty="0" smtClean="0"/>
          </a:p>
          <a:p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197030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4436" y="147592"/>
            <a:ext cx="8779120" cy="8955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思路与解法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4436" y="1043189"/>
            <a:ext cx="9748748" cy="561518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设计状态 </a:t>
            </a:r>
            <a:r>
              <a:rPr lang="en-US" altLang="zh-CN" sz="2800" dirty="0"/>
              <a:t>f[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][j]</a:t>
            </a:r>
            <a:r>
              <a:rPr lang="zh-CN" altLang="en-US" sz="2800" dirty="0"/>
              <a:t>，表示该人现在在</a:t>
            </a:r>
            <a:r>
              <a:rPr lang="en-US" altLang="zh-CN" sz="2800" dirty="0"/>
              <a:t>j</a:t>
            </a:r>
            <a:r>
              <a:rPr lang="zh-CN" altLang="en-US" sz="2800" dirty="0"/>
              <a:t>点，该人的旅行的状态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i</a:t>
            </a:r>
            <a:r>
              <a:rPr lang="zh-CN" altLang="en-US" sz="2800" dirty="0" smtClean="0"/>
              <a:t>的</a:t>
            </a:r>
            <a:r>
              <a:rPr lang="zh-CN" altLang="en-US" sz="2800" dirty="0"/>
              <a:t>方法</a:t>
            </a:r>
            <a:r>
              <a:rPr lang="zh-CN" altLang="en-US" sz="2800" dirty="0" smtClean="0"/>
              <a:t>数。其中</a:t>
            </a:r>
            <a:r>
              <a:rPr lang="zh-CN" altLang="en-US" sz="2800" dirty="0"/>
              <a:t>该人的起点为</a:t>
            </a:r>
            <a:r>
              <a:rPr lang="zh-CN" altLang="en-US" sz="2800" dirty="0" smtClean="0"/>
              <a:t>所有经过</a:t>
            </a:r>
            <a:r>
              <a:rPr lang="zh-CN" altLang="en-US" sz="2800" dirty="0"/>
              <a:t>点中数值最小的点。</a:t>
            </a:r>
            <a:endParaRPr lang="en-US" altLang="zh-CN" sz="2800" dirty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转移方程：</a:t>
            </a:r>
            <a:r>
              <a:rPr lang="nn-NO" altLang="zh-CN" sz="2800" dirty="0" smtClean="0"/>
              <a:t>f[i</a:t>
            </a:r>
            <a:r>
              <a:rPr lang="nn-NO" altLang="zh-CN" sz="2800" dirty="0"/>
              <a:t>|(1&lt;&lt;l)][l] += f[i][j</a:t>
            </a:r>
            <a:r>
              <a:rPr lang="nn-NO" altLang="zh-CN" sz="2800" dirty="0" smtClean="0"/>
              <a:t>];</a:t>
            </a:r>
          </a:p>
          <a:p>
            <a:r>
              <a:rPr lang="zh-CN" altLang="en-US" sz="2800" dirty="0" smtClean="0"/>
              <a:t>其中</a:t>
            </a:r>
            <a:r>
              <a:rPr lang="en-US" altLang="zh-CN" sz="2800" dirty="0" smtClean="0"/>
              <a:t>L</a:t>
            </a:r>
            <a:r>
              <a:rPr lang="zh-CN" altLang="en-US" sz="2800" dirty="0" smtClean="0"/>
              <a:t>未访问过，且</a:t>
            </a:r>
            <a:r>
              <a:rPr lang="en-US" altLang="zh-CN" sz="2800" dirty="0" smtClean="0"/>
              <a:t>j</a:t>
            </a:r>
            <a:r>
              <a:rPr lang="zh-CN" altLang="en-US" sz="2800" dirty="0" smtClean="0"/>
              <a:t>到</a:t>
            </a:r>
            <a:r>
              <a:rPr lang="en-US" altLang="zh-CN" sz="2800" dirty="0" smtClean="0"/>
              <a:t>l</a:t>
            </a:r>
            <a:r>
              <a:rPr lang="zh-CN" altLang="en-US" sz="2800" dirty="0" smtClean="0"/>
              <a:t>之间有边。</a:t>
            </a:r>
            <a:endParaRPr lang="en-US" altLang="zh-CN" sz="2800" dirty="0" smtClean="0"/>
          </a:p>
          <a:p>
            <a:r>
              <a:rPr lang="zh-CN" altLang="en-US" sz="2800" dirty="0" smtClean="0"/>
              <a:t>设</a:t>
            </a:r>
            <a:r>
              <a:rPr lang="en-US" altLang="zh-CN" sz="2800" dirty="0" smtClean="0"/>
              <a:t>k</a:t>
            </a:r>
            <a:r>
              <a:rPr lang="zh-CN" altLang="en-US" sz="2800" dirty="0" smtClean="0"/>
              <a:t>为该状态中的起点，如果</a:t>
            </a:r>
            <a:r>
              <a:rPr lang="en-US" altLang="zh-CN" sz="2800" dirty="0" smtClean="0"/>
              <a:t>k</a:t>
            </a:r>
            <a:r>
              <a:rPr lang="zh-CN" altLang="en-US" sz="2800" dirty="0" smtClean="0"/>
              <a:t>与</a:t>
            </a:r>
            <a:r>
              <a:rPr lang="en-US" altLang="zh-CN" sz="2800" dirty="0" smtClean="0"/>
              <a:t>j</a:t>
            </a:r>
            <a:r>
              <a:rPr lang="zh-CN" altLang="en-US" sz="2800" dirty="0" smtClean="0"/>
              <a:t>之间有边，则</a:t>
            </a:r>
            <a:r>
              <a:rPr lang="en-US" altLang="zh-CN" sz="2800" dirty="0" err="1" smtClean="0"/>
              <a:t>ans</a:t>
            </a:r>
            <a:r>
              <a:rPr lang="en-US" altLang="zh-CN" sz="2800" dirty="0" smtClean="0"/>
              <a:t> += f[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][j];</a:t>
            </a:r>
          </a:p>
        </p:txBody>
      </p:sp>
    </p:spTree>
    <p:extLst>
      <p:ext uri="{BB962C8B-B14F-4D97-AF65-F5344CB8AC3E}">
        <p14:creationId xmlns:p14="http://schemas.microsoft.com/office/powerpoint/2010/main" val="107785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58829" y="147592"/>
            <a:ext cx="8911687" cy="1280890"/>
          </a:xfrm>
        </p:spPr>
        <p:txBody>
          <a:bodyPr>
            <a:normAutofit/>
          </a:bodyPr>
          <a:lstStyle/>
          <a:p>
            <a:r>
              <a:rPr lang="zh-CN" altLang="en-US" sz="5400" dirty="0" smtClean="0"/>
              <a:t>树形</a:t>
            </a:r>
            <a:r>
              <a:rPr lang="en-US" altLang="zh-CN" sz="5400" dirty="0" smtClean="0"/>
              <a:t>DP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58828" y="1026017"/>
            <a:ext cx="8911687" cy="5477814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利用树本身的子结构进行动态规划。</a:t>
            </a:r>
            <a:endParaRPr lang="en-US" altLang="zh-CN" sz="3200" dirty="0" smtClean="0"/>
          </a:p>
          <a:p>
            <a:r>
              <a:rPr lang="zh-CN" altLang="en-US" sz="3200" dirty="0" smtClean="0"/>
              <a:t>一般代码：</a:t>
            </a:r>
            <a:endParaRPr lang="en-US" altLang="zh-CN" sz="3200" dirty="0" smtClean="0"/>
          </a:p>
          <a:p>
            <a:r>
              <a:rPr lang="en-US" altLang="zh-CN" sz="3200" dirty="0"/>
              <a:t>void DFS(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Root</a:t>
            </a:r>
            <a:r>
              <a:rPr lang="en-US" altLang="zh-CN" sz="3200" dirty="0" smtClean="0"/>
              <a:t>){</a:t>
            </a:r>
            <a:endParaRPr lang="en-US" altLang="zh-CN" sz="3200" dirty="0"/>
          </a:p>
          <a:p>
            <a:r>
              <a:rPr lang="en-US" altLang="zh-CN" sz="3200" dirty="0"/>
              <a:t>    for 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=0;i&lt;P[Root].</a:t>
            </a:r>
            <a:r>
              <a:rPr lang="en-US" altLang="zh-CN" sz="3200" dirty="0" err="1"/>
              <a:t>SonNum;i</a:t>
            </a:r>
            <a:r>
              <a:rPr lang="en-US" altLang="zh-CN" sz="3200" dirty="0" smtClean="0"/>
              <a:t>++){</a:t>
            </a:r>
            <a:endParaRPr lang="en-US" altLang="zh-CN" sz="3200" dirty="0"/>
          </a:p>
          <a:p>
            <a:r>
              <a:rPr lang="en-US" altLang="zh-CN" sz="3200" dirty="0"/>
              <a:t>        DFS(P[Root].Son[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]);</a:t>
            </a:r>
          </a:p>
          <a:p>
            <a:r>
              <a:rPr lang="en-US" altLang="zh-CN" sz="3200" dirty="0"/>
              <a:t>        DP(</a:t>
            </a:r>
            <a:r>
              <a:rPr lang="en-US" altLang="zh-CN" sz="3200" dirty="0" err="1"/>
              <a:t>Root,P</a:t>
            </a:r>
            <a:r>
              <a:rPr lang="en-US" altLang="zh-CN" sz="3200" dirty="0"/>
              <a:t>[Root].Son[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]);</a:t>
            </a:r>
          </a:p>
          <a:p>
            <a:r>
              <a:rPr lang="en-US" altLang="zh-CN" sz="3200" dirty="0"/>
              <a:t>    }</a:t>
            </a:r>
          </a:p>
          <a:p>
            <a:r>
              <a:rPr lang="en-US" altLang="zh-C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037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7314" y="224865"/>
            <a:ext cx="8911687" cy="753929"/>
          </a:xfrm>
        </p:spPr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7314" y="978793"/>
            <a:ext cx="9435942" cy="5550796"/>
          </a:xfrm>
        </p:spPr>
        <p:txBody>
          <a:bodyPr/>
          <a:lstStyle/>
          <a:p>
            <a:pPr lvl="0">
              <a:buClr>
                <a:srgbClr val="353535"/>
              </a:buClr>
            </a:pPr>
            <a:r>
              <a:rPr lang="en-US" altLang="zh-CN" sz="40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Description:</a:t>
            </a:r>
            <a:endParaRPr lang="en-US" altLang="zh-CN" sz="40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r>
              <a:rPr lang="zh-CN" altLang="en-US" sz="4000" dirty="0" smtClean="0"/>
              <a:t>给一个</a:t>
            </a:r>
            <a:r>
              <a:rPr lang="en-US" altLang="zh-CN" sz="4000" dirty="0" smtClean="0"/>
              <a:t>n(n&lt;=50000)</a:t>
            </a:r>
            <a:r>
              <a:rPr lang="zh-CN" altLang="en-US" sz="4000" dirty="0" smtClean="0"/>
              <a:t>个点的树，问有多少个点对</a:t>
            </a:r>
            <a:r>
              <a:rPr lang="en-US" altLang="zh-CN" sz="4000" dirty="0" smtClean="0"/>
              <a:t>(</a:t>
            </a:r>
            <a:r>
              <a:rPr lang="en-US" altLang="zh-CN" sz="4000" dirty="0" err="1" smtClean="0"/>
              <a:t>x,y</a:t>
            </a:r>
            <a:r>
              <a:rPr lang="en-US" altLang="zh-CN" sz="4000" dirty="0" smtClean="0"/>
              <a:t>),</a:t>
            </a:r>
            <a:r>
              <a:rPr lang="zh-CN" altLang="en-US" sz="4000" dirty="0" smtClean="0"/>
              <a:t>使得点</a:t>
            </a:r>
            <a:r>
              <a:rPr lang="en-US" altLang="zh-CN" sz="4000" dirty="0" smtClean="0"/>
              <a:t>x</a:t>
            </a:r>
            <a:r>
              <a:rPr lang="zh-CN" altLang="en-US" sz="4000" dirty="0" smtClean="0"/>
              <a:t>与点</a:t>
            </a:r>
            <a:r>
              <a:rPr lang="en-US" altLang="zh-CN" sz="4000" dirty="0" smtClean="0"/>
              <a:t>y</a:t>
            </a:r>
            <a:r>
              <a:rPr lang="zh-CN" altLang="en-US" sz="4000" dirty="0" smtClean="0"/>
              <a:t>之间的距离为</a:t>
            </a:r>
            <a:r>
              <a:rPr lang="en-US" altLang="zh-CN" sz="4000" dirty="0" smtClean="0"/>
              <a:t>K(k&lt;=500).</a:t>
            </a:r>
            <a:r>
              <a:rPr lang="zh-CN" altLang="en-US" sz="4000" dirty="0" smtClean="0"/>
              <a:t>其中相邻点的距离为１。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0422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4436" y="147592"/>
            <a:ext cx="8779120" cy="8955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思路与解法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4436" y="1043189"/>
            <a:ext cx="9748748" cy="5615188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以任意节点为根的子树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假设</a:t>
            </a:r>
            <a:r>
              <a:rPr lang="en-US" altLang="zh-CN" sz="2800" dirty="0" smtClean="0"/>
              <a:t>root</a:t>
            </a:r>
            <a:r>
              <a:rPr lang="zh-CN" altLang="en-US" sz="2800" dirty="0" smtClean="0"/>
              <a:t>到</a:t>
            </a:r>
            <a:r>
              <a:rPr lang="en-US" altLang="zh-CN" sz="2800" dirty="0" smtClean="0"/>
              <a:t>son1</a:t>
            </a:r>
            <a:r>
              <a:rPr lang="zh-CN" altLang="en-US" sz="2800" dirty="0" smtClean="0"/>
              <a:t>子树中距离为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的节点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有Ｘ个，</a:t>
            </a:r>
            <a:r>
              <a:rPr lang="en-US" altLang="zh-CN" sz="2800" dirty="0" smtClean="0"/>
              <a:t>root</a:t>
            </a:r>
            <a:r>
              <a:rPr lang="zh-CN" altLang="en-US" sz="2800" dirty="0" smtClean="0"/>
              <a:t>到</a:t>
            </a:r>
            <a:r>
              <a:rPr lang="en-US" altLang="zh-CN" sz="2800" dirty="0" smtClean="0"/>
              <a:t>son2</a:t>
            </a:r>
            <a:r>
              <a:rPr lang="zh-CN" altLang="en-US" sz="2800" dirty="0" smtClean="0"/>
              <a:t>子树中距离为</a:t>
            </a:r>
            <a:r>
              <a:rPr lang="en-US" altLang="zh-CN" sz="2800" dirty="0" smtClean="0"/>
              <a:t>k-2-x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 smtClean="0"/>
              <a:t>的节点有Ｙ个。那么Ｘ</a:t>
            </a:r>
            <a:r>
              <a:rPr lang="en-US" altLang="zh-CN" sz="2800" dirty="0" smtClean="0"/>
              <a:t>×</a:t>
            </a:r>
            <a:r>
              <a:rPr lang="zh-CN" altLang="en-US" sz="2800" dirty="0" smtClean="0"/>
              <a:t>Ｙ则为子树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s</a:t>
            </a:r>
            <a:r>
              <a:rPr lang="en-US" altLang="zh-CN" sz="2800" dirty="0" smtClean="0"/>
              <a:t>on1</a:t>
            </a:r>
            <a:r>
              <a:rPr lang="zh-CN" altLang="en-US" sz="2800" dirty="0" smtClean="0"/>
              <a:t>与</a:t>
            </a:r>
            <a:r>
              <a:rPr lang="en-US" altLang="zh-CN" sz="2800" dirty="0" smtClean="0"/>
              <a:t>son2</a:t>
            </a:r>
            <a:r>
              <a:rPr lang="zh-CN" altLang="en-US" sz="2800" dirty="0" smtClean="0"/>
              <a:t>之间距离为</a:t>
            </a:r>
            <a:r>
              <a:rPr lang="en-US" altLang="zh-CN" sz="2800" dirty="0" smtClean="0"/>
              <a:t>k</a:t>
            </a:r>
            <a:r>
              <a:rPr lang="zh-CN" altLang="en-US" sz="2800" dirty="0" smtClean="0"/>
              <a:t>的点对的个数。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枚举子树则得出</a:t>
            </a:r>
            <a:r>
              <a:rPr lang="en-US" altLang="zh-CN" sz="2800" dirty="0" smtClean="0"/>
              <a:t>root</a:t>
            </a:r>
            <a:r>
              <a:rPr lang="zh-CN" altLang="en-US" sz="2800" dirty="0" smtClean="0"/>
              <a:t>树中所有满足的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答案。</a:t>
            </a:r>
            <a:endParaRPr lang="en-US" altLang="zh-CN" sz="2800" dirty="0" smtClean="0"/>
          </a:p>
        </p:txBody>
      </p:sp>
      <p:sp>
        <p:nvSpPr>
          <p:cNvPr id="5" name="椭圆 4"/>
          <p:cNvSpPr/>
          <p:nvPr/>
        </p:nvSpPr>
        <p:spPr>
          <a:xfrm>
            <a:off x="9034857" y="1571104"/>
            <a:ext cx="948690" cy="9294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root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8086166" y="3386061"/>
            <a:ext cx="1034974" cy="103734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son1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9983546" y="3386060"/>
            <a:ext cx="1080693" cy="103734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smtClean="0"/>
              <a:t>son2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stCxn id="5" idx="3"/>
            <a:endCxn id="6" idx="0"/>
          </p:cNvCxnSpPr>
          <p:nvPr/>
        </p:nvCxnSpPr>
        <p:spPr>
          <a:xfrm flipH="1">
            <a:off x="8603653" y="2364434"/>
            <a:ext cx="570136" cy="1021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5"/>
            <a:endCxn id="7" idx="0"/>
          </p:cNvCxnSpPr>
          <p:nvPr/>
        </p:nvCxnSpPr>
        <p:spPr>
          <a:xfrm>
            <a:off x="9844615" y="2364434"/>
            <a:ext cx="679278" cy="1021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9229177" y="37200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5" idx="4"/>
            <a:endCxn id="21" idx="0"/>
          </p:cNvCxnSpPr>
          <p:nvPr/>
        </p:nvCxnSpPr>
        <p:spPr>
          <a:xfrm>
            <a:off x="9509202" y="2500548"/>
            <a:ext cx="43141" cy="1219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81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4436" y="147592"/>
            <a:ext cx="8779120" cy="8955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思路与解法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4436" y="1043189"/>
            <a:ext cx="9748748" cy="5615188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则有状态</a:t>
            </a:r>
            <a:r>
              <a:rPr lang="en-US" altLang="zh-CN" sz="2800" dirty="0" smtClean="0"/>
              <a:t>f[u][x]</a:t>
            </a:r>
            <a:r>
              <a:rPr lang="en-US" altLang="zh-CN" sz="2800" dirty="0"/>
              <a:t>,</a:t>
            </a:r>
            <a:r>
              <a:rPr lang="zh-CN" altLang="en-US" sz="2800" dirty="0" smtClean="0"/>
              <a:t>表示以</a:t>
            </a:r>
            <a:r>
              <a:rPr lang="en-US" altLang="zh-CN" sz="2800" dirty="0" smtClean="0"/>
              <a:t>u</a:t>
            </a:r>
            <a:r>
              <a:rPr lang="zh-CN" altLang="en-US" sz="2800" dirty="0" smtClean="0"/>
              <a:t>为根节点，与</a:t>
            </a:r>
            <a:r>
              <a:rPr lang="en-US" altLang="zh-CN" sz="2800" dirty="0" smtClean="0"/>
              <a:t>u</a:t>
            </a:r>
            <a:r>
              <a:rPr lang="zh-CN" altLang="en-US" sz="2800" dirty="0" smtClean="0"/>
              <a:t>距离为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u</a:t>
            </a:r>
            <a:r>
              <a:rPr lang="zh-CN" altLang="en-US" sz="2800" dirty="0" smtClean="0"/>
              <a:t>子树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 smtClean="0"/>
              <a:t>中节点的个数。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状态转移方程：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    </a:t>
            </a:r>
            <a:r>
              <a:rPr lang="en-US" altLang="zh-CN" sz="2800" dirty="0" err="1" smtClean="0"/>
              <a:t>ans</a:t>
            </a:r>
            <a:r>
              <a:rPr lang="en-US" altLang="zh-CN" sz="2800" dirty="0" smtClean="0"/>
              <a:t> += f[root][x-1]*f[son][k-x];</a:t>
            </a:r>
          </a:p>
          <a:p>
            <a:pPr marL="0" indent="0">
              <a:buNone/>
            </a:pPr>
            <a:r>
              <a:rPr lang="en-US" altLang="zh-CN" sz="2800" dirty="0" smtClean="0"/>
              <a:t>    F[root][x] += f[son][x-1];</a:t>
            </a:r>
            <a:endParaRPr lang="en-US" altLang="zh-CN" sz="2800" dirty="0"/>
          </a:p>
        </p:txBody>
      </p:sp>
      <p:sp>
        <p:nvSpPr>
          <p:cNvPr id="5" name="椭圆 4"/>
          <p:cNvSpPr/>
          <p:nvPr/>
        </p:nvSpPr>
        <p:spPr>
          <a:xfrm>
            <a:off x="9034857" y="1571104"/>
            <a:ext cx="948690" cy="9294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root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8086166" y="3386061"/>
            <a:ext cx="1034974" cy="103734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son1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9983546" y="3386060"/>
            <a:ext cx="1080693" cy="103734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smtClean="0"/>
              <a:t>son2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stCxn id="5" idx="3"/>
            <a:endCxn id="6" idx="0"/>
          </p:cNvCxnSpPr>
          <p:nvPr/>
        </p:nvCxnSpPr>
        <p:spPr>
          <a:xfrm flipH="1">
            <a:off x="8603653" y="2364434"/>
            <a:ext cx="570136" cy="1021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5"/>
            <a:endCxn id="7" idx="0"/>
          </p:cNvCxnSpPr>
          <p:nvPr/>
        </p:nvCxnSpPr>
        <p:spPr>
          <a:xfrm>
            <a:off x="9844615" y="2364434"/>
            <a:ext cx="679278" cy="1021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9229177" y="37200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5" idx="4"/>
            <a:endCxn id="21" idx="0"/>
          </p:cNvCxnSpPr>
          <p:nvPr/>
        </p:nvCxnSpPr>
        <p:spPr>
          <a:xfrm>
            <a:off x="9509202" y="2500548"/>
            <a:ext cx="43141" cy="1219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38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8677" y="211987"/>
            <a:ext cx="8911687" cy="1280890"/>
          </a:xfrm>
        </p:spPr>
        <p:txBody>
          <a:bodyPr>
            <a:normAutofit/>
          </a:bodyPr>
          <a:lstStyle/>
          <a:p>
            <a:r>
              <a:rPr lang="zh-CN" altLang="en-US" sz="5400" dirty="0" smtClean="0"/>
              <a:t>数位</a:t>
            </a:r>
            <a:r>
              <a:rPr lang="en-US" altLang="zh-CN" sz="5400" dirty="0" smtClean="0"/>
              <a:t>DP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677" y="1141927"/>
            <a:ext cx="8915400" cy="5477814"/>
          </a:xfrm>
        </p:spPr>
        <p:txBody>
          <a:bodyPr>
            <a:normAutofit/>
          </a:bodyPr>
          <a:lstStyle/>
          <a:p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dfs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s, </a:t>
            </a:r>
            <a:r>
              <a:rPr lang="en-US" altLang="zh-CN" sz="2800" dirty="0" err="1"/>
              <a:t>bool</a:t>
            </a:r>
            <a:r>
              <a:rPr lang="en-US" altLang="zh-CN" sz="2800" dirty="0"/>
              <a:t> e) {</a:t>
            </a:r>
          </a:p>
          <a:p>
            <a:r>
              <a:rPr lang="en-US" altLang="zh-CN" sz="2800" dirty="0"/>
              <a:t>    if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==-1) return s==</a:t>
            </a:r>
            <a:r>
              <a:rPr lang="en-US" altLang="zh-CN" sz="2800" dirty="0" err="1"/>
              <a:t>target_s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    if (!e &amp;&amp; ~f[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][s]) return f[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][s];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res = 0;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u = </a:t>
            </a:r>
            <a:r>
              <a:rPr lang="en-US" altLang="zh-CN" sz="2800" dirty="0" err="1" smtClean="0"/>
              <a:t>e?num</a:t>
            </a:r>
            <a:r>
              <a:rPr lang="en-US" altLang="zh-CN" sz="2800" dirty="0" smtClean="0"/>
              <a:t>[</a:t>
            </a:r>
            <a:r>
              <a:rPr lang="en-US" altLang="zh-CN" sz="2800" dirty="0" err="1" smtClean="0"/>
              <a:t>i</a:t>
            </a:r>
            <a:r>
              <a:rPr lang="en-US" altLang="zh-CN" sz="2800" dirty="0"/>
              <a:t>]:9;</a:t>
            </a:r>
          </a:p>
          <a:p>
            <a:r>
              <a:rPr lang="en-US" altLang="zh-CN" sz="2800" dirty="0"/>
              <a:t>    for 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d = first?1:0; d &lt;= u; ++d)</a:t>
            </a:r>
          </a:p>
          <a:p>
            <a:r>
              <a:rPr lang="en-US" altLang="zh-CN" sz="2800" dirty="0"/>
              <a:t>        res += </a:t>
            </a:r>
            <a:r>
              <a:rPr lang="en-US" altLang="zh-CN" sz="2800" dirty="0" err="1"/>
              <a:t>dfs</a:t>
            </a:r>
            <a:r>
              <a:rPr lang="en-US" altLang="zh-CN" sz="2800" dirty="0"/>
              <a:t>(i-1, </a:t>
            </a:r>
            <a:r>
              <a:rPr lang="en-US" altLang="zh-CN" sz="2800" dirty="0" err="1"/>
              <a:t>new_s</a:t>
            </a:r>
            <a:r>
              <a:rPr lang="en-US" altLang="zh-CN" sz="2800" dirty="0"/>
              <a:t>(s, </a:t>
            </a:r>
            <a:r>
              <a:rPr lang="en-US" altLang="zh-CN" sz="2800" dirty="0" smtClean="0"/>
              <a:t>d  ), </a:t>
            </a:r>
            <a:r>
              <a:rPr lang="en-US" altLang="zh-CN" sz="2800" dirty="0"/>
              <a:t>e&amp;&amp;d==u);</a:t>
            </a:r>
          </a:p>
          <a:p>
            <a:r>
              <a:rPr lang="en-US" altLang="zh-CN" sz="2800" dirty="0"/>
              <a:t>    return </a:t>
            </a:r>
            <a:r>
              <a:rPr lang="en-US" altLang="zh-CN" sz="2800" dirty="0" err="1"/>
              <a:t>e?res:f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][s]=res;</a:t>
            </a:r>
          </a:p>
          <a:p>
            <a:r>
              <a:rPr lang="en-US" altLang="zh-CN" sz="2800" dirty="0" smtClean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990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7314" y="224865"/>
            <a:ext cx="8911687" cy="753929"/>
          </a:xfrm>
        </p:spPr>
        <p:txBody>
          <a:bodyPr/>
          <a:lstStyle/>
          <a:p>
            <a:r>
              <a:rPr lang="zh-CN" altLang="en-US" dirty="0" smtClean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2434" y="978794"/>
            <a:ext cx="10470524" cy="5782614"/>
          </a:xfrm>
        </p:spPr>
        <p:txBody>
          <a:bodyPr>
            <a:noAutofit/>
          </a:bodyPr>
          <a:lstStyle/>
          <a:p>
            <a:r>
              <a:rPr lang="en-US" altLang="zh-CN" sz="4000" b="1" dirty="0" smtClean="0"/>
              <a:t>Description:</a:t>
            </a:r>
          </a:p>
          <a:p>
            <a:r>
              <a:rPr lang="zh-CN" altLang="en-US" sz="4000" b="1" dirty="0" smtClean="0"/>
              <a:t>给与数字</a:t>
            </a:r>
            <a:r>
              <a:rPr lang="en-US" altLang="zh-CN" sz="4000" b="1" dirty="0"/>
              <a:t>N (1 &lt;= N &lt;= 2^63-1</a:t>
            </a:r>
            <a:r>
              <a:rPr lang="en-US" altLang="zh-CN" sz="4000" b="1" dirty="0" smtClean="0"/>
              <a:t>)</a:t>
            </a:r>
            <a:r>
              <a:rPr lang="zh-CN" altLang="en-US" sz="4000" b="1" dirty="0" smtClean="0"/>
              <a:t>，求出</a:t>
            </a:r>
            <a:r>
              <a:rPr lang="en-US" altLang="zh-CN" sz="4000" b="1" dirty="0" smtClean="0"/>
              <a:t>1-N</a:t>
            </a:r>
            <a:r>
              <a:rPr lang="zh-CN" altLang="en-US" sz="4000" b="1" dirty="0" smtClean="0"/>
              <a:t>之间有多少个数字包含字串</a:t>
            </a:r>
            <a:r>
              <a:rPr lang="en-US" altLang="zh-CN" sz="4000" b="1" dirty="0" smtClean="0"/>
              <a:t>”49”</a:t>
            </a:r>
            <a:r>
              <a:rPr lang="zh-CN" altLang="en-US" sz="4000" b="1" dirty="0" smtClean="0"/>
              <a:t>。</a:t>
            </a:r>
            <a:endParaRPr lang="en-US" altLang="zh-CN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222712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4436" y="147592"/>
            <a:ext cx="8779120" cy="8955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思路与解法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4436" y="1043189"/>
            <a:ext cx="9748748" cy="5615188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设计状态</a:t>
            </a:r>
            <a:r>
              <a:rPr lang="en-US" altLang="zh-CN" sz="2800" dirty="0" smtClean="0"/>
              <a:t>f[</a:t>
            </a:r>
            <a:r>
              <a:rPr lang="en-US" altLang="zh-CN" sz="2800" dirty="0" err="1" smtClean="0"/>
              <a:t>pos</a:t>
            </a:r>
            <a:r>
              <a:rPr lang="en-US" altLang="zh-CN" sz="2800" dirty="0" smtClean="0"/>
              <a:t>][s] </a:t>
            </a:r>
            <a:r>
              <a:rPr lang="zh-CN" altLang="en-US" sz="2800" dirty="0" smtClean="0"/>
              <a:t>其中</a:t>
            </a:r>
            <a:r>
              <a:rPr lang="en-US" altLang="zh-CN" sz="2800" dirty="0" smtClean="0"/>
              <a:t>s = 0,1,2;</a:t>
            </a:r>
          </a:p>
          <a:p>
            <a:r>
              <a:rPr lang="zh-CN" altLang="en-US" sz="2800" dirty="0" smtClean="0"/>
              <a:t>其状态含义为：处理至</a:t>
            </a:r>
            <a:r>
              <a:rPr lang="en-US" altLang="zh-CN" sz="2800" dirty="0" err="1" smtClean="0"/>
              <a:t>pos</a:t>
            </a:r>
            <a:r>
              <a:rPr lang="zh-CN" altLang="en-US" sz="2800" dirty="0" smtClean="0"/>
              <a:t>位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后面剩下</a:t>
            </a:r>
            <a:r>
              <a:rPr lang="en-US" altLang="zh-CN" sz="2800" dirty="0" smtClean="0"/>
              <a:t>pos+1</a:t>
            </a:r>
            <a:r>
              <a:rPr lang="zh-CN" altLang="en-US" sz="2800" dirty="0" smtClean="0"/>
              <a:t>位待填数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，之前数字的状态为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时满足要求的数字数。</a:t>
            </a:r>
            <a:r>
              <a:rPr lang="en-US" altLang="zh-CN" sz="2800" dirty="0" smtClean="0"/>
              <a:t>S = 0</a:t>
            </a:r>
            <a:r>
              <a:rPr lang="zh-CN" altLang="en-US" sz="2800" dirty="0" smtClean="0"/>
              <a:t>，则表示之前不包含</a:t>
            </a:r>
            <a:r>
              <a:rPr lang="en-US" altLang="zh-CN" sz="2800" dirty="0" smtClean="0"/>
              <a:t>”49”</a:t>
            </a:r>
            <a:r>
              <a:rPr lang="zh-CN" altLang="en-US" sz="2800" dirty="0" smtClean="0"/>
              <a:t>且前一位不为</a:t>
            </a:r>
            <a:r>
              <a:rPr lang="en-US" altLang="zh-CN" sz="2800" dirty="0" smtClean="0"/>
              <a:t>”4”; S = 1,</a:t>
            </a:r>
            <a:r>
              <a:rPr lang="zh-CN" altLang="en-US" sz="2800" dirty="0" smtClean="0"/>
              <a:t>代表之前不包含</a:t>
            </a:r>
            <a:r>
              <a:rPr lang="en-US" altLang="zh-CN" sz="2800" dirty="0" smtClean="0"/>
              <a:t>”49”,</a:t>
            </a:r>
            <a:r>
              <a:rPr lang="zh-CN" altLang="en-US" sz="2800" dirty="0" smtClean="0"/>
              <a:t>且前一位为</a:t>
            </a:r>
            <a:r>
              <a:rPr lang="en-US" altLang="zh-CN" sz="2800" dirty="0" smtClean="0"/>
              <a:t>”4”; S = 2</a:t>
            </a:r>
            <a:r>
              <a:rPr lang="zh-CN" altLang="en-US" sz="2800" dirty="0" smtClean="0"/>
              <a:t>，代表之前已经包含</a:t>
            </a:r>
            <a:r>
              <a:rPr lang="en-US" altLang="zh-CN" sz="2800" dirty="0" smtClean="0"/>
              <a:t>”49”</a:t>
            </a:r>
            <a:r>
              <a:rPr lang="zh-CN" altLang="en-US" sz="2800" dirty="0" smtClean="0"/>
              <a:t>串。</a:t>
            </a:r>
            <a:endParaRPr lang="en-US" altLang="zh-CN" sz="2800" dirty="0" smtClean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4089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2778" y="2517304"/>
            <a:ext cx="7529869" cy="1500904"/>
          </a:xfrm>
        </p:spPr>
        <p:txBody>
          <a:bodyPr>
            <a:noAutofit/>
          </a:bodyPr>
          <a:lstStyle/>
          <a:p>
            <a:r>
              <a:rPr lang="en-US" altLang="zh-CN" sz="8800" dirty="0" smtClean="0"/>
              <a:t>Thanks!</a:t>
            </a:r>
            <a:endParaRPr lang="zh-CN" altLang="en-US" sz="8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504" y="4915437"/>
            <a:ext cx="4481290" cy="841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 smtClean="0"/>
              <a:t>yiyezhiqiu07@gmail.com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2845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426</TotalTime>
  <Words>911</Words>
  <Application>Microsoft Office PowerPoint</Application>
  <PresentationFormat>宽屏</PresentationFormat>
  <Paragraphs>95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宋体</vt:lpstr>
      <vt:lpstr>幼圆</vt:lpstr>
      <vt:lpstr>Arial</vt:lpstr>
      <vt:lpstr>Calibri</vt:lpstr>
      <vt:lpstr>Century Gothic</vt:lpstr>
      <vt:lpstr>Wingdings 3</vt:lpstr>
      <vt:lpstr>丝状</vt:lpstr>
      <vt:lpstr>动态规划</vt:lpstr>
      <vt:lpstr>常见类型</vt:lpstr>
      <vt:lpstr>区间DP</vt:lpstr>
      <vt:lpstr>例题</vt:lpstr>
      <vt:lpstr>思路与解法</vt:lpstr>
      <vt:lpstr>状态压缩DP</vt:lpstr>
      <vt:lpstr>例题</vt:lpstr>
      <vt:lpstr>思路与解法</vt:lpstr>
      <vt:lpstr>思路与解法</vt:lpstr>
      <vt:lpstr>树形DP</vt:lpstr>
      <vt:lpstr>例题</vt:lpstr>
      <vt:lpstr>思路与解法</vt:lpstr>
      <vt:lpstr>思路与解法</vt:lpstr>
      <vt:lpstr>数位DP</vt:lpstr>
      <vt:lpstr>例题</vt:lpstr>
      <vt:lpstr>思路与解法</vt:lpstr>
      <vt:lpstr>Thanks!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动态规划</dc:title>
  <dc:creator>yiyezhiqiu</dc:creator>
  <cp:lastModifiedBy>yiyezhiqiu</cp:lastModifiedBy>
  <cp:revision>111</cp:revision>
  <dcterms:created xsi:type="dcterms:W3CDTF">2013-04-11T13:25:19Z</dcterms:created>
  <dcterms:modified xsi:type="dcterms:W3CDTF">2013-04-14T11:17:29Z</dcterms:modified>
</cp:coreProperties>
</file>